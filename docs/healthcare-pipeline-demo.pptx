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cdb4874-897f-ab40-688d-3f355f7a8e22}">
          <p14:sldIdLst>
            <p14:sldId id="256"/>
          </p14:sldIdLst>
        </p14:section>
        <p14:section name="Demo" id="{6d9684d7-0cd6-406c-d747-5a8073b7699f}">
          <p14:sldIdLst>
            <p14:sldId id="257"/>
            <p14:sldId id="258"/>
            <p14:sldId id="259"/>
            <p14:sldId id="260"/>
            <p14:sldId id="261"/>
            <p14:sldId id="262"/>
            <p14:sldId id="263"/>
          </p14:sldIdLst>
        </p14:section>
        <p14:section name="Close" id="{c773e553-850b-9f8d-7cb5-d723710660c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 portals crash in the morning rush because every booking holds a server thread until the database and the insurance check finish. Our project puts a message queue in the middle, so the patient gets an instant answer and the work happens in the background. We built it in Spring Boot with ActiveMQ, Spring Batch, JPA and a SOAP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synchronous booking blocks threads. Our fix is a queue in the middle. Then walk through five screens: booking, insurance check, appointments, concurrency test and the lab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 doctor and a slot and press Request appointment. The patient gets an immediate answer, then Appointment booked with the doctor, the time and a reference number. Open Technical details: 202 Accepted in about 12 ms, then processing, then confirmed. The user was not waiting for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confirming, the worker calls a legacy insurance service over SOAP. INV-1 is refused, so the booking is rejected and the slot stays free. SLOW-1 takes 1.5 seconds, but the patient still got their instant 202.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confirmed booking is saved in the Appointments tab, newest first, with reference, patient, doctor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patients ask for the same slot at the same instant. All 30 get an instant 202, but the counters settle at exactly 1 confirmed and 29 rejected. No double booking, and each rejected patient is offered the next free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machines dump thousands of results every night. Our Spring Batch job reads the file, checks and triages every row, and saves them in chunks of 50. Here: 303 rows read, 300 saved, 5 skipped, 7 commits. It runs on its own thread, so the page just polls for progress, and it also runs automatically at 2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deliberately has 5 bad rows: a non-numeric value, a missing patient ID, an unknown test type, a truncated line and an empty range. They are skipped and logged, and one bad row does not stop the batch. When a value is dangerously out of range an alert is sent during the batch, not after it. The sample CSV can be downloaded and uploaded to see the same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REST and SOAP together, an ActiveMQ queue and topic, a Spring Batch pipeline, and JPA optimistic locking. Our tests prove one booking out of 30 simultaneous requests, and a 300-row batch with 5 skipped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say that MySQL is configured as a profile but only H2 was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abel"/>
          <p:cNvSpPr txBox="1"/>
          <p:nvPr/>
        </p:nvSpPr>
        <p:spPr>
          <a:xfrm>
            <a:off x="640080" y="1097280"/>
            <a:ext cx="786384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PROJECT DEMONSTRATION</a:t>
            </a:r>
            <a:endParaRPr lang="en-US" sz="1200" dirty="0"/>
          </a:p>
        </p:txBody>
      </p:sp>
      <p:sp>
        <p:nvSpPr>
          <p:cNvPr id="3" name="Title"/>
          <p:cNvSpPr txBox="1"/>
          <p:nvPr/>
        </p:nvSpPr>
        <p:spPr>
          <a:xfrm>
            <a:off x="640080" y="1417320"/>
            <a:ext cx="8046720" cy="1280160"/>
          </a:xfrm>
          <a:prstGeom prst="rect">
            <a:avLst/>
          </a:prstGeom>
          <a:noFill/>
          <a:ln/>
        </p:spPr>
        <p:txBody>
          <a:bodyPr wrap="square" lIns="0" tIns="0" rIns="0" bIns="0" rtlCol="0" anchor="t"/>
          <a:lstStyle/>
          <a:p>
            <a:pPr indent="0" marL="0">
              <a:buNone/>
            </a:pPr>
            <a:r>
              <a:rPr lang="en-US" sz="3200" b="1" dirty="0">
                <a:solidFill>
                  <a:schemeClr val="bg1"/>
                </a:solidFill>
              </a:rPr>
              <a:t>Healthcare Appointment Scheduling and Lab Result Pipeline</a:t>
            </a:r>
            <a:endParaRPr lang="en-US" sz="3200" dirty="0"/>
          </a:p>
        </p:txBody>
      </p:sp>
      <p:sp>
        <p:nvSpPr>
          <p:cNvPr id="4" name="Subtitle"/>
          <p:cNvSpPr txBox="1"/>
          <p:nvPr/>
        </p:nvSpPr>
        <p:spPr>
          <a:xfrm>
            <a:off x="640080" y="2834640"/>
            <a:ext cx="7680960" cy="365760"/>
          </a:xfrm>
          <a:prstGeom prst="rect">
            <a:avLst/>
          </a:prstGeom>
          <a:noFill/>
          <a:ln/>
        </p:spPr>
        <p:txBody>
          <a:bodyPr wrap="square" lIns="0" tIns="0" rIns="0" bIns="0" rtlCol="0" anchor="ctr"/>
          <a:lstStyle/>
          <a:p>
            <a:pPr indent="0" marL="0">
              <a:buNone/>
            </a:pPr>
            <a:r>
              <a:rPr lang="en-US" sz="1600" dirty="0">
                <a:solidFill>
                  <a:schemeClr val="accent6"/>
                </a:solidFill>
              </a:rPr>
              <a:t>Live demo walkthrough: what each screen does and how it is built</a:t>
            </a:r>
            <a:endParaRPr lang="en-US" sz="1600" dirty="0"/>
          </a:p>
        </p:txBody>
      </p:sp>
      <p:sp>
        <p:nvSpPr>
          <p:cNvPr id="5" name="NAME label"/>
          <p:cNvSpPr txBox="1"/>
          <p:nvPr/>
        </p:nvSpPr>
        <p:spPr>
          <a:xfrm>
            <a:off x="640080" y="3840480"/>
            <a:ext cx="2103120" cy="228600"/>
          </a:xfrm>
          <a:prstGeom prst="rect">
            <a:avLst/>
          </a:prstGeom>
          <a:noFill/>
          <a:ln/>
        </p:spPr>
        <p:txBody>
          <a:bodyPr wrap="square" lIns="0" tIns="0" rIns="0" bIns="0" rtlCol="0" anchor="ctr"/>
          <a:lstStyle/>
          <a:p>
            <a:pPr indent="0" marL="0">
              <a:buNone/>
            </a:pPr>
            <a:r>
              <a:rPr lang="en-US" sz="1000" b="1" dirty="0">
                <a:solidFill>
                  <a:schemeClr val="accent6"/>
                </a:solidFill>
              </a:rPr>
              <a:t>NAME</a:t>
            </a:r>
            <a:endParaRPr lang="en-US" sz="1000" dirty="0"/>
          </a:p>
        </p:txBody>
      </p:sp>
      <p:sp>
        <p:nvSpPr>
          <p:cNvPr id="6" name="NAME value"/>
          <p:cNvSpPr txBox="1"/>
          <p:nvPr/>
        </p:nvSpPr>
        <p:spPr>
          <a:xfrm>
            <a:off x="640080" y="4069080"/>
            <a:ext cx="2103120" cy="320040"/>
          </a:xfrm>
          <a:prstGeom prst="rect">
            <a:avLst/>
          </a:prstGeom>
          <a:noFill/>
          <a:ln/>
        </p:spPr>
        <p:txBody>
          <a:bodyPr wrap="square" lIns="0" tIns="0" rIns="0" bIns="0" rtlCol="0" anchor="ctr"/>
          <a:lstStyle/>
          <a:p>
            <a:pPr indent="0" marL="0">
              <a:buNone/>
            </a:pPr>
            <a:r>
              <a:rPr lang="en-US" sz="1500" b="1" dirty="0">
                <a:solidFill>
                  <a:schemeClr val="bg1"/>
                </a:solidFill>
              </a:rPr>
              <a:t>Ballini Soundarya M</a:t>
            </a:r>
            <a:endParaRPr lang="en-US" sz="1500" dirty="0"/>
          </a:p>
        </p:txBody>
      </p:sp>
      <p:sp>
        <p:nvSpPr>
          <p:cNvPr id="7" name="REGISTRATION NUMBER label"/>
          <p:cNvSpPr txBox="1"/>
          <p:nvPr/>
        </p:nvSpPr>
        <p:spPr>
          <a:xfrm>
            <a:off x="3017520" y="3840480"/>
            <a:ext cx="2011680" cy="228600"/>
          </a:xfrm>
          <a:prstGeom prst="rect">
            <a:avLst/>
          </a:prstGeom>
          <a:noFill/>
          <a:ln/>
        </p:spPr>
        <p:txBody>
          <a:bodyPr wrap="square" lIns="0" tIns="0" rIns="0" bIns="0" rtlCol="0" anchor="ctr"/>
          <a:lstStyle/>
          <a:p>
            <a:pPr indent="0" marL="0">
              <a:buNone/>
            </a:pPr>
            <a:r>
              <a:rPr lang="en-US" sz="1000" b="1" dirty="0">
                <a:solidFill>
                  <a:schemeClr val="accent6"/>
                </a:solidFill>
              </a:rPr>
              <a:t>REGISTRATION NUMBER</a:t>
            </a:r>
            <a:endParaRPr lang="en-US" sz="1000" dirty="0"/>
          </a:p>
        </p:txBody>
      </p:sp>
      <p:sp>
        <p:nvSpPr>
          <p:cNvPr id="8" name="REGISTRATION NUMBER value"/>
          <p:cNvSpPr txBox="1"/>
          <p:nvPr/>
        </p:nvSpPr>
        <p:spPr>
          <a:xfrm>
            <a:off x="3017520" y="4069080"/>
            <a:ext cx="2011680" cy="320040"/>
          </a:xfrm>
          <a:prstGeom prst="rect">
            <a:avLst/>
          </a:prstGeom>
          <a:noFill/>
          <a:ln/>
        </p:spPr>
        <p:txBody>
          <a:bodyPr wrap="square" lIns="0" tIns="0" rIns="0" bIns="0" rtlCol="0" anchor="ctr"/>
          <a:lstStyle/>
          <a:p>
            <a:pPr indent="0" marL="0">
              <a:buNone/>
            </a:pPr>
            <a:r>
              <a:rPr lang="en-US" sz="1500" b="1" dirty="0">
                <a:solidFill>
                  <a:schemeClr val="bg1"/>
                </a:solidFill>
              </a:rPr>
              <a:t>24MIC0026</a:t>
            </a:r>
            <a:endParaRPr lang="en-US" sz="1500" dirty="0"/>
          </a:p>
        </p:txBody>
      </p:sp>
      <p:sp>
        <p:nvSpPr>
          <p:cNvPr id="9" name="COURSE label"/>
          <p:cNvSpPr txBox="1"/>
          <p:nvPr/>
        </p:nvSpPr>
        <p:spPr>
          <a:xfrm>
            <a:off x="4937760" y="3840480"/>
            <a:ext cx="3749040" cy="228600"/>
          </a:xfrm>
          <a:prstGeom prst="rect">
            <a:avLst/>
          </a:prstGeom>
          <a:noFill/>
          <a:ln/>
        </p:spPr>
        <p:txBody>
          <a:bodyPr wrap="square" lIns="0" tIns="0" rIns="0" bIns="0" rtlCol="0" anchor="ctr"/>
          <a:lstStyle/>
          <a:p>
            <a:pPr indent="0" marL="0">
              <a:buNone/>
            </a:pPr>
            <a:r>
              <a:rPr lang="en-US" sz="1000" b="1" dirty="0">
                <a:solidFill>
                  <a:schemeClr val="accent6"/>
                </a:solidFill>
              </a:rPr>
              <a:t>COURSE</a:t>
            </a:r>
            <a:endParaRPr lang="en-US" sz="1000" dirty="0"/>
          </a:p>
        </p:txBody>
      </p:sp>
      <p:sp>
        <p:nvSpPr>
          <p:cNvPr id="10" name="COURSE value"/>
          <p:cNvSpPr txBox="1"/>
          <p:nvPr/>
        </p:nvSpPr>
        <p:spPr>
          <a:xfrm>
            <a:off x="4937760" y="4069080"/>
            <a:ext cx="3749040" cy="320040"/>
          </a:xfrm>
          <a:prstGeom prst="rect">
            <a:avLst/>
          </a:prstGeom>
          <a:noFill/>
          <a:ln/>
        </p:spPr>
        <p:txBody>
          <a:bodyPr wrap="square" lIns="0" tIns="0" rIns="0" bIns="0" rtlCol="0" anchor="ctr"/>
          <a:lstStyle/>
          <a:p>
            <a:pPr indent="0" marL="0">
              <a:buNone/>
            </a:pPr>
            <a:r>
              <a:rPr lang="en-US" sz="1500" b="1" dirty="0">
                <a:solidFill>
                  <a:schemeClr val="accent2"/>
                </a:solidFill>
              </a:rPr>
              <a:t>Advanced Server Side Programming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OVERVIEW &amp; APPROACH</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What the Demo Shows</a:t>
            </a:r>
            <a:endParaRPr lang="en-US" sz="3000" dirty="0"/>
          </a:p>
        </p:txBody>
      </p:sp>
      <p:sp>
        <p:nvSpPr>
          <p:cNvPr id="5" name="Statement"/>
          <p:cNvSpPr txBox="1"/>
          <p:nvPr/>
        </p:nvSpPr>
        <p:spPr>
          <a:xfrm>
            <a:off x="502920" y="1463040"/>
            <a:ext cx="3931920" cy="1737360"/>
          </a:xfrm>
          <a:prstGeom prst="rect">
            <a:avLst/>
          </a:prstGeom>
          <a:noFill/>
          <a:ln/>
        </p:spPr>
        <p:txBody>
          <a:bodyPr wrap="square" lIns="0" tIns="0" rIns="0" bIns="0" rtlCol="0" anchor="t"/>
          <a:lstStyle/>
          <a:p>
            <a:pPr indent="0" marL="0">
              <a:buNone/>
            </a:pPr>
            <a:r>
              <a:rPr lang="en-US" sz="2000" b="1" dirty="0">
                <a:solidFill>
                  <a:schemeClr val="tx1"/>
                </a:solidFill>
              </a:rPr>
              <a:t>Hospital portals crash in the morning rush because each booking holds a server thread until the database and the insurance check finish.</a:t>
            </a:r>
            <a:endParaRPr lang="en-US" sz="2000" dirty="0"/>
          </a:p>
        </p:txBody>
      </p:sp>
      <p:sp>
        <p:nvSpPr>
          <p:cNvPr id="6" name="Supporting"/>
          <p:cNvSpPr txBox="1"/>
          <p:nvPr/>
        </p:nvSpPr>
        <p:spPr>
          <a:xfrm>
            <a:off x="502920" y="3337560"/>
            <a:ext cx="3931920" cy="914400"/>
          </a:xfrm>
          <a:prstGeom prst="rect">
            <a:avLst/>
          </a:prstGeom>
          <a:noFill/>
          <a:ln/>
        </p:spPr>
        <p:txBody>
          <a:bodyPr wrap="square" lIns="0" tIns="0" rIns="0" bIns="0" rtlCol="0" anchor="t"/>
          <a:lstStyle/>
          <a:p>
            <a:pPr indent="0" marL="0">
              <a:buNone/>
            </a:pPr>
            <a:r>
              <a:rPr lang="en-US" sz="1400" dirty="0">
                <a:solidFill>
                  <a:schemeClr val="accent5"/>
                </a:solidFill>
              </a:rPr>
              <a:t>We put a message queue in the middle. The patient gets an instant answer and the work happens in the background.</a:t>
            </a:r>
            <a:endParaRPr lang="en-US" sz="1400" dirty="0"/>
          </a:p>
        </p:txBody>
      </p:sp>
      <p:sp>
        <p:nvSpPr>
          <p:cNvPr id="7" name="Instant Response card"/>
          <p:cNvSpPr/>
          <p:nvPr/>
        </p:nvSpPr>
        <p:spPr>
          <a:xfrm>
            <a:off x="4800600" y="1417320"/>
            <a:ext cx="3840480" cy="1024128"/>
          </a:xfrm>
          <a:prstGeom prst="roundRect">
            <a:avLst>
              <a:gd name="adj" fmla="val 7143"/>
            </a:avLst>
          </a:prstGeom>
          <a:solidFill>
            <a:schemeClr val="bg2"/>
          </a:solidFill>
          <a:ln w="12700">
            <a:solidFill>
              <a:schemeClr val="accent4"/>
            </a:solidFill>
            <a:prstDash val="solid"/>
          </a:ln>
        </p:spPr>
      </p:sp>
      <p:sp>
        <p:nvSpPr>
          <p:cNvPr id="8" name="Instant Response heading"/>
          <p:cNvSpPr txBox="1"/>
          <p:nvPr/>
        </p:nvSpPr>
        <p:spPr>
          <a:xfrm>
            <a:off x="5001768" y="1563624"/>
            <a:ext cx="3438144" cy="365760"/>
          </a:xfrm>
          <a:prstGeom prst="rect">
            <a:avLst/>
          </a:prstGeom>
          <a:noFill/>
          <a:ln/>
        </p:spPr>
        <p:txBody>
          <a:bodyPr wrap="square" lIns="0" tIns="0" rIns="0" bIns="0" rtlCol="0" anchor="t"/>
          <a:lstStyle/>
          <a:p>
            <a:pPr indent="0" marL="0">
              <a:buNone/>
            </a:pPr>
            <a:r>
              <a:rPr lang="en-US" sz="1500" b="1" dirty="0">
                <a:solidFill>
                  <a:schemeClr val="accent1"/>
                </a:solidFill>
              </a:rPr>
              <a:t>Instant Response</a:t>
            </a:r>
            <a:endParaRPr lang="en-US" sz="1500" dirty="0"/>
          </a:p>
        </p:txBody>
      </p:sp>
      <p:sp>
        <p:nvSpPr>
          <p:cNvPr id="9" name="Instant Response body"/>
          <p:cNvSpPr txBox="1"/>
          <p:nvPr/>
        </p:nvSpPr>
        <p:spPr>
          <a:xfrm>
            <a:off x="5001768" y="1965960"/>
            <a:ext cx="3438144" cy="338328"/>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HTTP 202 Accepted with a reference ID, with no waiting on the database.</a:t>
            </a:r>
            <a:endParaRPr lang="en-US" sz="1300" dirty="0"/>
          </a:p>
        </p:txBody>
      </p:sp>
      <p:sp>
        <p:nvSpPr>
          <p:cNvPr id="10" name="Background Workers card"/>
          <p:cNvSpPr/>
          <p:nvPr/>
        </p:nvSpPr>
        <p:spPr>
          <a:xfrm>
            <a:off x="4800600" y="2514600"/>
            <a:ext cx="3840480" cy="1024128"/>
          </a:xfrm>
          <a:prstGeom prst="roundRect">
            <a:avLst>
              <a:gd name="adj" fmla="val 7143"/>
            </a:avLst>
          </a:prstGeom>
          <a:solidFill>
            <a:schemeClr val="bg2"/>
          </a:solidFill>
          <a:ln w="12700">
            <a:solidFill>
              <a:schemeClr val="accent4"/>
            </a:solidFill>
            <a:prstDash val="solid"/>
          </a:ln>
        </p:spPr>
      </p:sp>
      <p:sp>
        <p:nvSpPr>
          <p:cNvPr id="11" name="Background Workers heading"/>
          <p:cNvSpPr txBox="1"/>
          <p:nvPr/>
        </p:nvSpPr>
        <p:spPr>
          <a:xfrm>
            <a:off x="5001768" y="2660904"/>
            <a:ext cx="3438144" cy="365760"/>
          </a:xfrm>
          <a:prstGeom prst="rect">
            <a:avLst/>
          </a:prstGeom>
          <a:noFill/>
          <a:ln/>
        </p:spPr>
        <p:txBody>
          <a:bodyPr wrap="square" lIns="0" tIns="0" rIns="0" bIns="0" rtlCol="0" anchor="t"/>
          <a:lstStyle/>
          <a:p>
            <a:pPr indent="0" marL="0">
              <a:buNone/>
            </a:pPr>
            <a:r>
              <a:rPr lang="en-US" sz="1500" b="1" dirty="0">
                <a:solidFill>
                  <a:schemeClr val="accent1"/>
                </a:solidFill>
              </a:rPr>
              <a:t>Background Workers</a:t>
            </a:r>
            <a:endParaRPr lang="en-US" sz="1500" dirty="0"/>
          </a:p>
        </p:txBody>
      </p:sp>
      <p:sp>
        <p:nvSpPr>
          <p:cNvPr id="12" name="Background Workers body"/>
          <p:cNvSpPr txBox="1"/>
          <p:nvPr/>
        </p:nvSpPr>
        <p:spPr>
          <a:xfrm>
            <a:off x="5001768" y="3063240"/>
            <a:ext cx="3438144" cy="338328"/>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JMS listeners confirm the slot, check insurance and save the booking.</a:t>
            </a:r>
            <a:endParaRPr lang="en-US" sz="1300" dirty="0"/>
          </a:p>
        </p:txBody>
      </p:sp>
      <p:sp>
        <p:nvSpPr>
          <p:cNvPr id="13" name="Spring Stack card"/>
          <p:cNvSpPr/>
          <p:nvPr/>
        </p:nvSpPr>
        <p:spPr>
          <a:xfrm>
            <a:off x="4800600" y="3611880"/>
            <a:ext cx="3840480" cy="1024128"/>
          </a:xfrm>
          <a:prstGeom prst="roundRect">
            <a:avLst>
              <a:gd name="adj" fmla="val 7143"/>
            </a:avLst>
          </a:prstGeom>
          <a:solidFill>
            <a:schemeClr val="bg2"/>
          </a:solidFill>
          <a:ln w="12700">
            <a:solidFill>
              <a:schemeClr val="accent4"/>
            </a:solidFill>
            <a:prstDash val="solid"/>
          </a:ln>
        </p:spPr>
      </p:sp>
      <p:sp>
        <p:nvSpPr>
          <p:cNvPr id="14" name="Spring Stack heading"/>
          <p:cNvSpPr txBox="1"/>
          <p:nvPr/>
        </p:nvSpPr>
        <p:spPr>
          <a:xfrm>
            <a:off x="5001768" y="3758184"/>
            <a:ext cx="3438144" cy="365760"/>
          </a:xfrm>
          <a:prstGeom prst="rect">
            <a:avLst/>
          </a:prstGeom>
          <a:noFill/>
          <a:ln/>
        </p:spPr>
        <p:txBody>
          <a:bodyPr wrap="square" lIns="0" tIns="0" rIns="0" bIns="0" rtlCol="0" anchor="t"/>
          <a:lstStyle/>
          <a:p>
            <a:pPr indent="0" marL="0">
              <a:buNone/>
            </a:pPr>
            <a:r>
              <a:rPr lang="en-US" sz="1500" b="1" dirty="0">
                <a:solidFill>
                  <a:schemeClr val="accent1"/>
                </a:solidFill>
              </a:rPr>
              <a:t>Spring Stack</a:t>
            </a:r>
            <a:endParaRPr lang="en-US" sz="1500" dirty="0"/>
          </a:p>
        </p:txBody>
      </p:sp>
      <p:sp>
        <p:nvSpPr>
          <p:cNvPr id="15" name="Spring Stack body"/>
          <p:cNvSpPr txBox="1"/>
          <p:nvPr/>
        </p:nvSpPr>
        <p:spPr>
          <a:xfrm>
            <a:off x="5001768" y="4160520"/>
            <a:ext cx="3438144" cy="338328"/>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Spring Boot, ActiveMQ, Spring Batch, JPA and a SOAP service.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DEMO: BOOK A VISIT</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Asynchronous Booking</a:t>
            </a:r>
            <a:endParaRPr lang="en-US" sz="3000" dirty="0"/>
          </a:p>
        </p:txBody>
      </p:sp>
      <p:sp>
        <p:nvSpPr>
          <p:cNvPr id="5" name="What it does card"/>
          <p:cNvSpPr/>
          <p:nvPr/>
        </p:nvSpPr>
        <p:spPr>
          <a:xfrm>
            <a:off x="502920" y="1417320"/>
            <a:ext cx="3931920" cy="3291840"/>
          </a:xfrm>
          <a:prstGeom prst="roundRect">
            <a:avLst>
              <a:gd name="adj" fmla="val 2222"/>
            </a:avLst>
          </a:prstGeom>
          <a:solidFill>
            <a:schemeClr val="bg2"/>
          </a:solidFill>
          <a:ln w="12700">
            <a:solidFill>
              <a:schemeClr val="accent4"/>
            </a:solidFill>
            <a:prstDash val="solid"/>
          </a:ln>
        </p:spPr>
      </p:sp>
      <p:sp>
        <p:nvSpPr>
          <p:cNvPr id="6" name="What it does heading"/>
          <p:cNvSpPr txBox="1"/>
          <p:nvPr/>
        </p:nvSpPr>
        <p:spPr>
          <a:xfrm>
            <a:off x="704088" y="1563624"/>
            <a:ext cx="3529584" cy="365760"/>
          </a:xfrm>
          <a:prstGeom prst="rect">
            <a:avLst/>
          </a:prstGeom>
          <a:noFill/>
          <a:ln/>
        </p:spPr>
        <p:txBody>
          <a:bodyPr wrap="square" lIns="0" tIns="0" rIns="0" bIns="0" rtlCol="0" anchor="t"/>
          <a:lstStyle/>
          <a:p>
            <a:pPr indent="0" marL="0">
              <a:buNone/>
            </a:pPr>
            <a:r>
              <a:rPr lang="en-US" sz="1600" b="1" dirty="0">
                <a:solidFill>
                  <a:schemeClr val="accent1"/>
                </a:solidFill>
              </a:rPr>
              <a:t>What it does</a:t>
            </a:r>
            <a:endParaRPr lang="en-US" sz="1600" dirty="0"/>
          </a:p>
        </p:txBody>
      </p:sp>
      <p:sp>
        <p:nvSpPr>
          <p:cNvPr id="7" name="What it does body"/>
          <p:cNvSpPr txBox="1"/>
          <p:nvPr/>
        </p:nvSpPr>
        <p:spPr>
          <a:xfrm>
            <a:off x="704088" y="1965960"/>
            <a:ext cx="3529584" cy="2606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Patient picks a doctor and a slot, then requests the appointment</a:t>
            </a:r>
            <a:endParaRPr lang="en-US" sz="1500" dirty="0"/>
          </a:p>
          <a:p>
            <a:pPr marL="342900" indent="-342900">
              <a:spcAft>
                <a:spcPts val="500"/>
              </a:spcAft>
              <a:buSzPct val="100000"/>
              <a:buChar char="•"/>
            </a:pPr>
            <a:r>
              <a:rPr lang="en-US" sz="1500" dirty="0">
                <a:solidFill>
                  <a:schemeClr val="tx1"/>
                </a:solidFill>
              </a:rPr>
              <a:t>Gets an instant answer, then "Appointment booked" with doctor, time and reference</a:t>
            </a:r>
            <a:endParaRPr lang="en-US" sz="1500" dirty="0"/>
          </a:p>
          <a:p>
            <a:pPr marL="342900" indent="-342900">
              <a:spcAft>
                <a:spcPts val="500"/>
              </a:spcAft>
              <a:buSzPct val="100000"/>
              <a:buChar char="•"/>
            </a:pPr>
            <a:r>
              <a:rPr lang="en-US" sz="1500" dirty="0">
                <a:solidFill>
                  <a:schemeClr val="tx1"/>
                </a:solidFill>
              </a:rPr>
              <a:t>Technical details shows 202 Accepted in about 12 ms, then processing, then confirmed</a:t>
            </a:r>
            <a:endParaRPr lang="en-US" sz="1500" dirty="0"/>
          </a:p>
        </p:txBody>
      </p:sp>
      <p:sp>
        <p:nvSpPr>
          <p:cNvPr id="8" name="How it is built card"/>
          <p:cNvSpPr/>
          <p:nvPr/>
        </p:nvSpPr>
        <p:spPr>
          <a:xfrm>
            <a:off x="4709160" y="1417320"/>
            <a:ext cx="3931920" cy="3291840"/>
          </a:xfrm>
          <a:prstGeom prst="roundRect">
            <a:avLst>
              <a:gd name="adj" fmla="val 2222"/>
            </a:avLst>
          </a:prstGeom>
          <a:solidFill>
            <a:schemeClr val="bg2"/>
          </a:solidFill>
          <a:ln w="12700">
            <a:solidFill>
              <a:schemeClr val="accent4"/>
            </a:solidFill>
            <a:prstDash val="solid"/>
          </a:ln>
        </p:spPr>
      </p:sp>
      <p:sp>
        <p:nvSpPr>
          <p:cNvPr id="9" name="How it is built heading"/>
          <p:cNvSpPr txBox="1"/>
          <p:nvPr/>
        </p:nvSpPr>
        <p:spPr>
          <a:xfrm>
            <a:off x="4910328" y="1563624"/>
            <a:ext cx="3529584" cy="365760"/>
          </a:xfrm>
          <a:prstGeom prst="rect">
            <a:avLst/>
          </a:prstGeom>
          <a:noFill/>
          <a:ln/>
        </p:spPr>
        <p:txBody>
          <a:bodyPr wrap="square" lIns="0" tIns="0" rIns="0" bIns="0" rtlCol="0" anchor="t"/>
          <a:lstStyle/>
          <a:p>
            <a:pPr indent="0" marL="0">
              <a:buNone/>
            </a:pPr>
            <a:r>
              <a:rPr lang="en-US" sz="1600" b="1" dirty="0">
                <a:solidFill>
                  <a:schemeClr val="accent1"/>
                </a:solidFill>
              </a:rPr>
              <a:t>How it is built</a:t>
            </a:r>
            <a:endParaRPr lang="en-US" sz="1600" dirty="0"/>
          </a:p>
        </p:txBody>
      </p:sp>
      <p:sp>
        <p:nvSpPr>
          <p:cNvPr id="10" name="How it is built body"/>
          <p:cNvSpPr txBox="1"/>
          <p:nvPr/>
        </p:nvSpPr>
        <p:spPr>
          <a:xfrm>
            <a:off x="4910328" y="1965960"/>
            <a:ext cx="3529584" cy="2606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POST /api/appointments validates the fields with Hibernate Validator</a:t>
            </a:r>
            <a:endParaRPr lang="en-US" sz="1500" dirty="0"/>
          </a:p>
          <a:p>
            <a:pPr marL="342900" indent="-342900">
              <a:spcAft>
                <a:spcPts val="500"/>
              </a:spcAft>
              <a:buSzPct val="100000"/>
              <a:buChar char="•"/>
            </a:pPr>
            <a:r>
              <a:rPr lang="en-US" sz="1500" dirty="0">
                <a:solidFill>
                  <a:schemeClr val="tx1"/>
                </a:solidFill>
              </a:rPr>
              <a:t>Request goes onto the ActiveMQ queue appointmentQueue; the API returns HTTP 202</a:t>
            </a:r>
            <a:endParaRPr lang="en-US" sz="1500" dirty="0"/>
          </a:p>
          <a:p>
            <a:pPr marL="342900" indent="-342900">
              <a:spcAft>
                <a:spcPts val="500"/>
              </a:spcAft>
              <a:buSzPct val="100000"/>
              <a:buChar char="•"/>
            </a:pPr>
            <a:r>
              <a:rPr lang="en-US" sz="1500" dirty="0">
                <a:solidFill>
                  <a:schemeClr val="tx1"/>
                </a:solidFill>
              </a:rPr>
              <a:t>No database access on the request thread</a:t>
            </a:r>
            <a:endParaRPr lang="en-US" sz="1500" dirty="0"/>
          </a:p>
          <a:p>
            <a:pPr marL="342900" indent="-342900">
              <a:spcAft>
                <a:spcPts val="500"/>
              </a:spcAft>
              <a:buSzPct val="100000"/>
              <a:buChar char="•"/>
            </a:pPr>
            <a:r>
              <a:rPr lang="en-US" sz="1500" dirty="0">
                <a:solidFill>
                  <a:schemeClr val="tx1"/>
                </a:solidFill>
              </a:rPr>
              <a:t>BookingWorker (@JmsListener) does the booking; the page polls every 0.4 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DEMO: INSURANCE VERIFICATION</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Insurance Check over SOAP</a:t>
            </a:r>
            <a:endParaRPr lang="en-US" sz="3000" dirty="0"/>
          </a:p>
        </p:txBody>
      </p:sp>
      <p:sp>
        <p:nvSpPr>
          <p:cNvPr id="5" name="What it does card"/>
          <p:cNvSpPr/>
          <p:nvPr/>
        </p:nvSpPr>
        <p:spPr>
          <a:xfrm>
            <a:off x="502920" y="1417320"/>
            <a:ext cx="3931920" cy="3291840"/>
          </a:xfrm>
          <a:prstGeom prst="roundRect">
            <a:avLst>
              <a:gd name="adj" fmla="val 2222"/>
            </a:avLst>
          </a:prstGeom>
          <a:solidFill>
            <a:schemeClr val="bg2"/>
          </a:solidFill>
          <a:ln w="12700">
            <a:solidFill>
              <a:schemeClr val="accent4"/>
            </a:solidFill>
            <a:prstDash val="solid"/>
          </a:ln>
        </p:spPr>
      </p:sp>
      <p:sp>
        <p:nvSpPr>
          <p:cNvPr id="6" name="What it does heading"/>
          <p:cNvSpPr txBox="1"/>
          <p:nvPr/>
        </p:nvSpPr>
        <p:spPr>
          <a:xfrm>
            <a:off x="704088" y="1563624"/>
            <a:ext cx="3529584" cy="365760"/>
          </a:xfrm>
          <a:prstGeom prst="rect">
            <a:avLst/>
          </a:prstGeom>
          <a:noFill/>
          <a:ln/>
        </p:spPr>
        <p:txBody>
          <a:bodyPr wrap="square" lIns="0" tIns="0" rIns="0" bIns="0" rtlCol="0" anchor="t"/>
          <a:lstStyle/>
          <a:p>
            <a:pPr indent="0" marL="0">
              <a:buNone/>
            </a:pPr>
            <a:r>
              <a:rPr lang="en-US" sz="1600" b="1" dirty="0">
                <a:solidFill>
                  <a:schemeClr val="accent1"/>
                </a:solidFill>
              </a:rPr>
              <a:t>What it does</a:t>
            </a:r>
            <a:endParaRPr lang="en-US" sz="1600" dirty="0"/>
          </a:p>
        </p:txBody>
      </p:sp>
      <p:sp>
        <p:nvSpPr>
          <p:cNvPr id="7" name="What it does body"/>
          <p:cNvSpPr txBox="1"/>
          <p:nvPr/>
        </p:nvSpPr>
        <p:spPr>
          <a:xfrm>
            <a:off x="704088" y="1965960"/>
            <a:ext cx="3529584" cy="2606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The worker verifies insurance before confirming a booking</a:t>
            </a:r>
            <a:endParaRPr lang="en-US" sz="1500" dirty="0"/>
          </a:p>
          <a:p>
            <a:pPr marL="342900" indent="-342900">
              <a:spcAft>
                <a:spcPts val="500"/>
              </a:spcAft>
              <a:buSzPct val="100000"/>
              <a:buChar char="•"/>
            </a:pPr>
            <a:r>
              <a:rPr lang="en-US" sz="1500" dirty="0">
                <a:solidFill>
                  <a:schemeClr val="tx1"/>
                </a:solidFill>
              </a:rPr>
              <a:t>Id INV-1 is refused: booking rejected, slot stays free</a:t>
            </a:r>
            <a:endParaRPr lang="en-US" sz="1500" dirty="0"/>
          </a:p>
          <a:p>
            <a:pPr marL="342900" indent="-342900">
              <a:spcAft>
                <a:spcPts val="500"/>
              </a:spcAft>
              <a:buSzPct val="100000"/>
              <a:buChar char="•"/>
            </a:pPr>
            <a:r>
              <a:rPr lang="en-US" sz="1500" dirty="0">
                <a:solidFill>
                  <a:schemeClr val="tx1"/>
                </a:solidFill>
              </a:rPr>
              <a:t>Id SLOW-1 takes 1.5 s, yet the patient still got the instant 202</a:t>
            </a:r>
            <a:endParaRPr lang="en-US" sz="1500" dirty="0"/>
          </a:p>
        </p:txBody>
      </p:sp>
      <p:sp>
        <p:nvSpPr>
          <p:cNvPr id="8" name="How it is built card"/>
          <p:cNvSpPr/>
          <p:nvPr/>
        </p:nvSpPr>
        <p:spPr>
          <a:xfrm>
            <a:off x="4709160" y="1417320"/>
            <a:ext cx="3931920" cy="3291840"/>
          </a:xfrm>
          <a:prstGeom prst="roundRect">
            <a:avLst>
              <a:gd name="adj" fmla="val 2222"/>
            </a:avLst>
          </a:prstGeom>
          <a:solidFill>
            <a:schemeClr val="bg2"/>
          </a:solidFill>
          <a:ln w="12700">
            <a:solidFill>
              <a:schemeClr val="accent4"/>
            </a:solidFill>
            <a:prstDash val="solid"/>
          </a:ln>
        </p:spPr>
      </p:sp>
      <p:sp>
        <p:nvSpPr>
          <p:cNvPr id="9" name="How it is built heading"/>
          <p:cNvSpPr txBox="1"/>
          <p:nvPr/>
        </p:nvSpPr>
        <p:spPr>
          <a:xfrm>
            <a:off x="4910328" y="1563624"/>
            <a:ext cx="3529584" cy="365760"/>
          </a:xfrm>
          <a:prstGeom prst="rect">
            <a:avLst/>
          </a:prstGeom>
          <a:noFill/>
          <a:ln/>
        </p:spPr>
        <p:txBody>
          <a:bodyPr wrap="square" lIns="0" tIns="0" rIns="0" bIns="0" rtlCol="0" anchor="t"/>
          <a:lstStyle/>
          <a:p>
            <a:pPr indent="0" marL="0">
              <a:buNone/>
            </a:pPr>
            <a:r>
              <a:rPr lang="en-US" sz="1600" b="1" dirty="0">
                <a:solidFill>
                  <a:schemeClr val="accent1"/>
                </a:solidFill>
              </a:rPr>
              <a:t>How it is built</a:t>
            </a:r>
            <a:endParaRPr lang="en-US" sz="1600" dirty="0"/>
          </a:p>
        </p:txBody>
      </p:sp>
      <p:sp>
        <p:nvSpPr>
          <p:cNvPr id="10" name="How it is built body"/>
          <p:cNvSpPr txBox="1"/>
          <p:nvPr/>
        </p:nvSpPr>
        <p:spPr>
          <a:xfrm>
            <a:off x="4910328" y="1965960"/>
            <a:ext cx="3529584" cy="2606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Mock service is a Spring Web Services @Endpoint at /ws, contract in insurance.xsd</a:t>
            </a:r>
            <a:endParaRPr lang="en-US" sz="1500" dirty="0"/>
          </a:p>
          <a:p>
            <a:pPr marL="342900" indent="-342900">
              <a:spcAft>
                <a:spcPts val="500"/>
              </a:spcAft>
              <a:buSzPct val="100000"/>
              <a:buChar char="•"/>
            </a:pPr>
            <a:r>
              <a:rPr lang="en-US" sz="1500" dirty="0">
                <a:solidFill>
                  <a:schemeClr val="tx1"/>
                </a:solidFill>
              </a:rPr>
              <a:t>WSDL is published at /ws/insurance.wsdl</a:t>
            </a:r>
            <a:endParaRPr lang="en-US" sz="1500" dirty="0"/>
          </a:p>
          <a:p>
            <a:pPr marL="342900" indent="-342900">
              <a:spcAft>
                <a:spcPts val="500"/>
              </a:spcAft>
              <a:buSzPct val="100000"/>
              <a:buChar char="•"/>
            </a:pPr>
            <a:r>
              <a:rPr lang="en-US" sz="1500" dirty="0">
                <a:solidFill>
                  <a:schemeClr val="tx1"/>
                </a:solidFill>
              </a:rPr>
              <a:t>InsuranceClient (WebServiceTemplate with JAXB) makes the call</a:t>
            </a:r>
            <a:endParaRPr lang="en-US" sz="1500" dirty="0"/>
          </a:p>
          <a:p>
            <a:pPr marL="342900" indent="-342900">
              <a:spcAft>
                <a:spcPts val="500"/>
              </a:spcAft>
              <a:buSzPct val="100000"/>
              <a:buChar char="•"/>
            </a:pPr>
            <a:r>
              <a:rPr lang="en-US" sz="1500" dirty="0">
                <a:solidFill>
                  <a:schemeClr val="tx1"/>
                </a:solidFill>
              </a:rPr>
              <a:t>The call runs in the worker, never in the HTTP request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DEMO: RECORDS &amp; TRACKING</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Appointments and Request Tracking</a:t>
            </a:r>
            <a:endParaRPr lang="en-US" sz="3000" dirty="0"/>
          </a:p>
        </p:txBody>
      </p:sp>
      <p:sp>
        <p:nvSpPr>
          <p:cNvPr id="5" name="Appointments tab card"/>
          <p:cNvSpPr/>
          <p:nvPr/>
        </p:nvSpPr>
        <p:spPr>
          <a:xfrm>
            <a:off x="502920" y="1417320"/>
            <a:ext cx="3931920" cy="3291840"/>
          </a:xfrm>
          <a:prstGeom prst="roundRect">
            <a:avLst>
              <a:gd name="adj" fmla="val 2222"/>
            </a:avLst>
          </a:prstGeom>
          <a:solidFill>
            <a:schemeClr val="bg2"/>
          </a:solidFill>
          <a:ln w="12700">
            <a:solidFill>
              <a:schemeClr val="accent4"/>
            </a:solidFill>
            <a:prstDash val="solid"/>
          </a:ln>
        </p:spPr>
      </p:sp>
      <p:sp>
        <p:nvSpPr>
          <p:cNvPr id="6" name="Appointments tab heading"/>
          <p:cNvSpPr txBox="1"/>
          <p:nvPr/>
        </p:nvSpPr>
        <p:spPr>
          <a:xfrm>
            <a:off x="704088" y="1563624"/>
            <a:ext cx="3529584" cy="365760"/>
          </a:xfrm>
          <a:prstGeom prst="rect">
            <a:avLst/>
          </a:prstGeom>
          <a:noFill/>
          <a:ln/>
        </p:spPr>
        <p:txBody>
          <a:bodyPr wrap="square" lIns="0" tIns="0" rIns="0" bIns="0" rtlCol="0" anchor="t"/>
          <a:lstStyle/>
          <a:p>
            <a:pPr indent="0" marL="0">
              <a:buNone/>
            </a:pPr>
            <a:r>
              <a:rPr lang="en-US" sz="1600" b="1" dirty="0">
                <a:solidFill>
                  <a:schemeClr val="accent1"/>
                </a:solidFill>
              </a:rPr>
              <a:t>Appointments Tab</a:t>
            </a:r>
            <a:endParaRPr lang="en-US" sz="1600" dirty="0"/>
          </a:p>
        </p:txBody>
      </p:sp>
      <p:sp>
        <p:nvSpPr>
          <p:cNvPr id="7" name="Appointments tab body"/>
          <p:cNvSpPr txBox="1"/>
          <p:nvPr/>
        </p:nvSpPr>
        <p:spPr>
          <a:xfrm>
            <a:off x="704088" y="1965960"/>
            <a:ext cx="3529584" cy="2606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Lists every confirmed booking, newest first</a:t>
            </a:r>
            <a:endParaRPr lang="en-US" sz="1500" dirty="0"/>
          </a:p>
          <a:p>
            <a:pPr marL="342900" indent="-342900">
              <a:spcAft>
                <a:spcPts val="500"/>
              </a:spcAft>
              <a:buSzPct val="100000"/>
              <a:buChar char="•"/>
            </a:pPr>
            <a:r>
              <a:rPr lang="en-US" sz="1500" dirty="0">
                <a:solidFill>
                  <a:schemeClr val="tx1"/>
                </a:solidFill>
              </a:rPr>
              <a:t>Shows reference, patient, doctor, time and reason</a:t>
            </a:r>
            <a:endParaRPr lang="en-US" sz="1500" dirty="0"/>
          </a:p>
          <a:p>
            <a:pPr marL="342900" indent="-342900">
              <a:spcAft>
                <a:spcPts val="500"/>
              </a:spcAft>
              <a:buSzPct val="100000"/>
              <a:buChar char="•"/>
            </a:pPr>
            <a:r>
              <a:rPr lang="en-US" sz="1500" dirty="0">
                <a:solidFill>
                  <a:schemeClr val="tx1"/>
                </a:solidFill>
              </a:rPr>
              <a:t>GET /api/appointments reads the Appointment entity, linked to a Slot and a Doctor</a:t>
            </a:r>
            <a:endParaRPr lang="en-US" sz="1500" dirty="0"/>
          </a:p>
        </p:txBody>
      </p:sp>
      <p:sp>
        <p:nvSpPr>
          <p:cNvPr id="8" name="Request tracking card"/>
          <p:cNvSpPr/>
          <p:nvPr/>
        </p:nvSpPr>
        <p:spPr>
          <a:xfrm>
            <a:off x="4709160" y="1417320"/>
            <a:ext cx="3931920" cy="3291840"/>
          </a:xfrm>
          <a:prstGeom prst="roundRect">
            <a:avLst>
              <a:gd name="adj" fmla="val 2222"/>
            </a:avLst>
          </a:prstGeom>
          <a:solidFill>
            <a:schemeClr val="bg2"/>
          </a:solidFill>
          <a:ln w="12700">
            <a:solidFill>
              <a:schemeClr val="accent4"/>
            </a:solidFill>
            <a:prstDash val="solid"/>
          </a:ln>
        </p:spPr>
      </p:sp>
      <p:sp>
        <p:nvSpPr>
          <p:cNvPr id="9" name="Request tracking heading"/>
          <p:cNvSpPr txBox="1"/>
          <p:nvPr/>
        </p:nvSpPr>
        <p:spPr>
          <a:xfrm>
            <a:off x="4910328" y="1563624"/>
            <a:ext cx="3529584" cy="365760"/>
          </a:xfrm>
          <a:prstGeom prst="rect">
            <a:avLst/>
          </a:prstGeom>
          <a:noFill/>
          <a:ln/>
        </p:spPr>
        <p:txBody>
          <a:bodyPr wrap="square" lIns="0" tIns="0" rIns="0" bIns="0" rtlCol="0" anchor="t"/>
          <a:lstStyle/>
          <a:p>
            <a:pPr indent="0" marL="0">
              <a:buNone/>
            </a:pPr>
            <a:r>
              <a:rPr lang="en-US" sz="1600" b="1" dirty="0">
                <a:solidFill>
                  <a:schemeClr val="accent1"/>
                </a:solidFill>
              </a:rPr>
              <a:t>Request Tracking</a:t>
            </a:r>
            <a:endParaRPr lang="en-US" sz="1600" dirty="0"/>
          </a:p>
        </p:txBody>
      </p:sp>
      <p:sp>
        <p:nvSpPr>
          <p:cNvPr id="10" name="Request tracking body"/>
          <p:cNvSpPr txBox="1"/>
          <p:nvPr/>
        </p:nvSpPr>
        <p:spPr>
          <a:xfrm>
            <a:off x="4910328" y="1965960"/>
            <a:ext cx="3529584" cy="2606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Each request moves through queued, processing, confirmed or rejected</a:t>
            </a:r>
            <a:endParaRPr lang="en-US" sz="1500" dirty="0"/>
          </a:p>
          <a:p>
            <a:pPr marL="342900" indent="-342900">
              <a:spcAft>
                <a:spcPts val="500"/>
              </a:spcAft>
              <a:buSzPct val="100000"/>
              <a:buChar char="•"/>
            </a:pPr>
            <a:r>
              <a:rPr lang="en-US" sz="1500" dirty="0">
                <a:solidFill>
                  <a:schemeClr val="tx1"/>
                </a:solidFill>
              </a:rPr>
              <a:t>BookingTracker keeps the state in memory</a:t>
            </a:r>
            <a:endParaRPr lang="en-US" sz="1500" dirty="0"/>
          </a:p>
          <a:p>
            <a:pPr marL="342900" indent="-342900">
              <a:spcAft>
                <a:spcPts val="500"/>
              </a:spcAft>
              <a:buSzPct val="100000"/>
              <a:buChar char="•"/>
            </a:pPr>
            <a:r>
              <a:rPr lang="en-US" sz="1500" dirty="0">
                <a:solidFill>
                  <a:schemeClr val="tx1"/>
                </a:solidFill>
              </a:rPr>
              <a:t>The controller can answer without taking a database lock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DEMO: CONCURRENCY TEST</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One Slot, Thirty Patients</a:t>
            </a:r>
            <a:endParaRPr lang="en-US" sz="3000" dirty="0"/>
          </a:p>
        </p:txBody>
      </p:sp>
      <p:sp>
        <p:nvSpPr>
          <p:cNvPr id="5" name="Stat card 30"/>
          <p:cNvSpPr/>
          <p:nvPr/>
        </p:nvSpPr>
        <p:spPr>
          <a:xfrm>
            <a:off x="502920" y="1371600"/>
            <a:ext cx="2615184" cy="1188720"/>
          </a:xfrm>
          <a:prstGeom prst="roundRect">
            <a:avLst>
              <a:gd name="adj" fmla="val 6154"/>
            </a:avLst>
          </a:prstGeom>
          <a:solidFill>
            <a:schemeClr val="bg2"/>
          </a:solidFill>
          <a:ln w="12700">
            <a:solidFill>
              <a:schemeClr val="accent4"/>
            </a:solidFill>
            <a:prstDash val="solid"/>
          </a:ln>
        </p:spPr>
      </p:sp>
      <p:sp>
        <p:nvSpPr>
          <p:cNvPr id="6" name="Stat 30"/>
          <p:cNvSpPr txBox="1"/>
          <p:nvPr/>
        </p:nvSpPr>
        <p:spPr>
          <a:xfrm>
            <a:off x="685800" y="1444752"/>
            <a:ext cx="2249424" cy="594360"/>
          </a:xfrm>
          <a:prstGeom prst="rect">
            <a:avLst/>
          </a:prstGeom>
          <a:noFill/>
          <a:ln/>
        </p:spPr>
        <p:txBody>
          <a:bodyPr wrap="square" lIns="0" tIns="0" rIns="0" bIns="0" rtlCol="0" anchor="t"/>
          <a:lstStyle/>
          <a:p>
            <a:pPr indent="0" marL="0">
              <a:buNone/>
            </a:pPr>
            <a:r>
              <a:rPr lang="en-US" sz="4000" b="1" dirty="0">
                <a:solidFill>
                  <a:schemeClr val="accent1"/>
                </a:solidFill>
              </a:rPr>
              <a:t>30</a:t>
            </a:r>
            <a:endParaRPr lang="en-US" sz="4000" dirty="0"/>
          </a:p>
        </p:txBody>
      </p:sp>
      <p:sp>
        <p:nvSpPr>
          <p:cNvPr id="7" name="Stat label 30"/>
          <p:cNvSpPr txBox="1"/>
          <p:nvPr/>
        </p:nvSpPr>
        <p:spPr>
          <a:xfrm>
            <a:off x="685800" y="2057400"/>
            <a:ext cx="2249424" cy="411480"/>
          </a:xfrm>
          <a:prstGeom prst="rect">
            <a:avLst/>
          </a:prstGeom>
          <a:noFill/>
          <a:ln/>
        </p:spPr>
        <p:txBody>
          <a:bodyPr wrap="square" lIns="0" tIns="0" rIns="0" bIns="0" rtlCol="0" anchor="t"/>
          <a:lstStyle/>
          <a:p>
            <a:pPr indent="0" marL="0">
              <a:buNone/>
            </a:pPr>
            <a:r>
              <a:rPr lang="en-US" sz="1200" dirty="0">
                <a:solidFill>
                  <a:schemeClr val="accent5"/>
                </a:solidFill>
              </a:rPr>
              <a:t>simultaneous requests, all answered 202</a:t>
            </a:r>
            <a:endParaRPr lang="en-US" sz="1200" dirty="0"/>
          </a:p>
        </p:txBody>
      </p:sp>
      <p:sp>
        <p:nvSpPr>
          <p:cNvPr id="8" name="Stat card 1"/>
          <p:cNvSpPr/>
          <p:nvPr/>
        </p:nvSpPr>
        <p:spPr>
          <a:xfrm>
            <a:off x="3264408" y="1371600"/>
            <a:ext cx="2615184" cy="1188720"/>
          </a:xfrm>
          <a:prstGeom prst="roundRect">
            <a:avLst>
              <a:gd name="adj" fmla="val 6154"/>
            </a:avLst>
          </a:prstGeom>
          <a:solidFill>
            <a:schemeClr val="accent1"/>
          </a:solidFill>
          <a:ln w="12700">
            <a:solidFill>
              <a:schemeClr val="accent4"/>
            </a:solidFill>
            <a:prstDash val="solid"/>
          </a:ln>
        </p:spPr>
      </p:sp>
      <p:sp>
        <p:nvSpPr>
          <p:cNvPr id="9" name="Stat 1"/>
          <p:cNvSpPr txBox="1"/>
          <p:nvPr/>
        </p:nvSpPr>
        <p:spPr>
          <a:xfrm>
            <a:off x="3447288" y="1444752"/>
            <a:ext cx="2249424" cy="594360"/>
          </a:xfrm>
          <a:prstGeom prst="rect">
            <a:avLst/>
          </a:prstGeom>
          <a:noFill/>
          <a:ln/>
        </p:spPr>
        <p:txBody>
          <a:bodyPr wrap="square" lIns="0" tIns="0" rIns="0" bIns="0" rtlCol="0" anchor="t"/>
          <a:lstStyle/>
          <a:p>
            <a:pPr indent="0" marL="0">
              <a:buNone/>
            </a:pPr>
            <a:r>
              <a:rPr lang="en-US" sz="4000" b="1" dirty="0">
                <a:solidFill>
                  <a:schemeClr val="bg1"/>
                </a:solidFill>
              </a:rPr>
              <a:t>1</a:t>
            </a:r>
            <a:endParaRPr lang="en-US" sz="4000" dirty="0"/>
          </a:p>
        </p:txBody>
      </p:sp>
      <p:sp>
        <p:nvSpPr>
          <p:cNvPr id="10" name="Stat label 1"/>
          <p:cNvSpPr txBox="1"/>
          <p:nvPr/>
        </p:nvSpPr>
        <p:spPr>
          <a:xfrm>
            <a:off x="3447288" y="2057400"/>
            <a:ext cx="2249424" cy="411480"/>
          </a:xfrm>
          <a:prstGeom prst="rect">
            <a:avLst/>
          </a:prstGeom>
          <a:noFill/>
          <a:ln/>
        </p:spPr>
        <p:txBody>
          <a:bodyPr wrap="square" lIns="0" tIns="0" rIns="0" bIns="0" rtlCol="0" anchor="t"/>
          <a:lstStyle/>
          <a:p>
            <a:pPr indent="0" marL="0">
              <a:buNone/>
            </a:pPr>
            <a:r>
              <a:rPr lang="en-US" sz="1200" dirty="0">
                <a:solidFill>
                  <a:schemeClr val="bg1"/>
                </a:solidFill>
              </a:rPr>
              <a:t>booking confirmed</a:t>
            </a:r>
            <a:endParaRPr lang="en-US" sz="1200" dirty="0"/>
          </a:p>
        </p:txBody>
      </p:sp>
      <p:sp>
        <p:nvSpPr>
          <p:cNvPr id="11" name="Stat card 29"/>
          <p:cNvSpPr/>
          <p:nvPr/>
        </p:nvSpPr>
        <p:spPr>
          <a:xfrm>
            <a:off x="6025896" y="1371600"/>
            <a:ext cx="2615184" cy="1188720"/>
          </a:xfrm>
          <a:prstGeom prst="roundRect">
            <a:avLst>
              <a:gd name="adj" fmla="val 6154"/>
            </a:avLst>
          </a:prstGeom>
          <a:solidFill>
            <a:schemeClr val="bg2"/>
          </a:solidFill>
          <a:ln w="12700">
            <a:solidFill>
              <a:schemeClr val="accent4"/>
            </a:solidFill>
            <a:prstDash val="solid"/>
          </a:ln>
        </p:spPr>
      </p:sp>
      <p:sp>
        <p:nvSpPr>
          <p:cNvPr id="12" name="Stat 29"/>
          <p:cNvSpPr txBox="1"/>
          <p:nvPr/>
        </p:nvSpPr>
        <p:spPr>
          <a:xfrm>
            <a:off x="6208776" y="1444752"/>
            <a:ext cx="2249424" cy="594360"/>
          </a:xfrm>
          <a:prstGeom prst="rect">
            <a:avLst/>
          </a:prstGeom>
          <a:noFill/>
          <a:ln/>
        </p:spPr>
        <p:txBody>
          <a:bodyPr wrap="square" lIns="0" tIns="0" rIns="0" bIns="0" rtlCol="0" anchor="t"/>
          <a:lstStyle/>
          <a:p>
            <a:pPr indent="0" marL="0">
              <a:buNone/>
            </a:pPr>
            <a:r>
              <a:rPr lang="en-US" sz="4000" b="1" dirty="0">
                <a:solidFill>
                  <a:schemeClr val="accent1"/>
                </a:solidFill>
              </a:rPr>
              <a:t>29</a:t>
            </a:r>
            <a:endParaRPr lang="en-US" sz="4000" dirty="0"/>
          </a:p>
        </p:txBody>
      </p:sp>
      <p:sp>
        <p:nvSpPr>
          <p:cNvPr id="13" name="Stat label 29"/>
          <p:cNvSpPr txBox="1"/>
          <p:nvPr/>
        </p:nvSpPr>
        <p:spPr>
          <a:xfrm>
            <a:off x="6208776" y="2057400"/>
            <a:ext cx="2249424" cy="411480"/>
          </a:xfrm>
          <a:prstGeom prst="rect">
            <a:avLst/>
          </a:prstGeom>
          <a:noFill/>
          <a:ln/>
        </p:spPr>
        <p:txBody>
          <a:bodyPr wrap="square" lIns="0" tIns="0" rIns="0" bIns="0" rtlCol="0" anchor="t"/>
          <a:lstStyle/>
          <a:p>
            <a:pPr indent="0" marL="0">
              <a:buNone/>
            </a:pPr>
            <a:r>
              <a:rPr lang="en-US" sz="1200" dirty="0">
                <a:solidFill>
                  <a:schemeClr val="accent5"/>
                </a:solidFill>
              </a:rPr>
              <a:t>rejected, next free slot offered</a:t>
            </a:r>
            <a:endParaRPr lang="en-US" sz="1200" dirty="0"/>
          </a:p>
        </p:txBody>
      </p:sp>
      <p:sp>
        <p:nvSpPr>
          <p:cNvPr id="14" name="How it works card"/>
          <p:cNvSpPr/>
          <p:nvPr/>
        </p:nvSpPr>
        <p:spPr>
          <a:xfrm>
            <a:off x="502920" y="2743200"/>
            <a:ext cx="8138160" cy="1920240"/>
          </a:xfrm>
          <a:prstGeom prst="roundRect">
            <a:avLst>
              <a:gd name="adj" fmla="val 3810"/>
            </a:avLst>
          </a:prstGeom>
          <a:solidFill>
            <a:schemeClr val="bg2"/>
          </a:solidFill>
          <a:ln w="12700">
            <a:solidFill>
              <a:schemeClr val="accent4"/>
            </a:solidFill>
            <a:prstDash val="solid"/>
          </a:ln>
        </p:spPr>
      </p:sp>
      <p:sp>
        <p:nvSpPr>
          <p:cNvPr id="15" name="How it works heading"/>
          <p:cNvSpPr txBox="1"/>
          <p:nvPr/>
        </p:nvSpPr>
        <p:spPr>
          <a:xfrm>
            <a:off x="704088" y="2889504"/>
            <a:ext cx="7735824" cy="365760"/>
          </a:xfrm>
          <a:prstGeom prst="rect">
            <a:avLst/>
          </a:prstGeom>
          <a:noFill/>
          <a:ln/>
        </p:spPr>
        <p:txBody>
          <a:bodyPr wrap="square" lIns="0" tIns="0" rIns="0" bIns="0" rtlCol="0" anchor="t"/>
          <a:lstStyle/>
          <a:p>
            <a:pPr indent="0" marL="0">
              <a:buNone/>
            </a:pPr>
            <a:r>
              <a:rPr lang="en-US" sz="1600" b="1" dirty="0">
                <a:solidFill>
                  <a:schemeClr val="accent1"/>
                </a:solidFill>
              </a:rPr>
              <a:t>How it works</a:t>
            </a:r>
            <a:endParaRPr lang="en-US" sz="1600" dirty="0"/>
          </a:p>
        </p:txBody>
      </p:sp>
      <p:sp>
        <p:nvSpPr>
          <p:cNvPr id="16" name="How it works body"/>
          <p:cNvSpPr txBox="1"/>
          <p:nvPr/>
        </p:nvSpPr>
        <p:spPr>
          <a:xfrm>
            <a:off x="704088" y="3291840"/>
            <a:ext cx="7735824" cy="12344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The Slot entity has a @Version column: optimistic locking</a:t>
            </a:r>
            <a:endParaRPr lang="en-US" sz="1400" dirty="0"/>
          </a:p>
          <a:p>
            <a:pPr marL="342900" indent="-342900">
              <a:spcAft>
                <a:spcPts val="500"/>
              </a:spcAft>
              <a:buSzPct val="100000"/>
              <a:buChar char="•"/>
            </a:pPr>
            <a:r>
              <a:rPr lang="en-US" sz="1400" dirty="0">
                <a:solidFill>
                  <a:schemeClr val="tx1"/>
                </a:solidFill>
              </a:rPr>
              <a:t>8 worker threads try to book in parallel; the first save bumps the version</a:t>
            </a:r>
            <a:endParaRPr lang="en-US" sz="1400" dirty="0"/>
          </a:p>
          <a:p>
            <a:pPr marL="342900" indent="-342900">
              <a:spcAft>
                <a:spcPts val="500"/>
              </a:spcAft>
              <a:buSzPct val="100000"/>
              <a:buChar char="•"/>
            </a:pPr>
            <a:r>
              <a:rPr lang="en-US" sz="1400" dirty="0">
                <a:solidFill>
                  <a:schemeClr val="tx1"/>
                </a:solidFill>
              </a:rPr>
              <a:t>The others fail with OptimisticLockingFailureException and become rejections</a:t>
            </a:r>
            <a:endParaRPr lang="en-US" sz="1400" dirty="0"/>
          </a:p>
          <a:p>
            <a:pPr marL="342900" indent="-342900">
              <a:spcAft>
                <a:spcPts val="500"/>
              </a:spcAft>
              <a:buSzPct val="100000"/>
              <a:buChar char="•"/>
            </a:pPr>
            <a:r>
              <a:rPr lang="en-US" sz="1400" dirty="0">
                <a:solidFill>
                  <a:schemeClr val="tx1"/>
                </a:solidFill>
              </a:rPr>
              <a:t>A JUnit test sends 30 requests and asserts exactly one appointment is created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DEMO: LAB RESULTS</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Chunk-Based Batch Pipeline</a:t>
            </a:r>
            <a:endParaRPr lang="en-US" sz="3000" dirty="0"/>
          </a:p>
        </p:txBody>
      </p:sp>
      <p:sp>
        <p:nvSpPr>
          <p:cNvPr id="5" name="PHASE 1: READER card"/>
          <p:cNvSpPr/>
          <p:nvPr/>
        </p:nvSpPr>
        <p:spPr>
          <a:xfrm>
            <a:off x="502920" y="1371600"/>
            <a:ext cx="2615184" cy="2194560"/>
          </a:xfrm>
          <a:prstGeom prst="roundRect">
            <a:avLst>
              <a:gd name="adj" fmla="val 3333"/>
            </a:avLst>
          </a:prstGeom>
          <a:solidFill>
            <a:schemeClr val="bg2"/>
          </a:solidFill>
          <a:ln w="12700">
            <a:solidFill>
              <a:schemeClr val="accent4"/>
            </a:solidFill>
            <a:prstDash val="solid"/>
          </a:ln>
        </p:spPr>
      </p:sp>
      <p:sp>
        <p:nvSpPr>
          <p:cNvPr id="6" name="PHASE 1: READER label"/>
          <p:cNvSpPr txBox="1"/>
          <p:nvPr/>
        </p:nvSpPr>
        <p:spPr>
          <a:xfrm>
            <a:off x="685800" y="1536192"/>
            <a:ext cx="2249424"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PHASE 1: READER</a:t>
            </a:r>
            <a:endParaRPr lang="en-US" sz="1100" dirty="0"/>
          </a:p>
        </p:txBody>
      </p:sp>
      <p:sp>
        <p:nvSpPr>
          <p:cNvPr id="7" name="PHASE 1: READER name"/>
          <p:cNvSpPr txBox="1"/>
          <p:nvPr/>
        </p:nvSpPr>
        <p:spPr>
          <a:xfrm>
            <a:off x="685800" y="1874520"/>
            <a:ext cx="2249424" cy="365760"/>
          </a:xfrm>
          <a:prstGeom prst="rect">
            <a:avLst/>
          </a:prstGeom>
          <a:noFill/>
          <a:ln/>
        </p:spPr>
        <p:txBody>
          <a:bodyPr wrap="square" lIns="0" tIns="0" rIns="0" bIns="0" rtlCol="0" anchor="ctr"/>
          <a:lstStyle/>
          <a:p>
            <a:pPr indent="0" marL="0">
              <a:buNone/>
            </a:pPr>
            <a:r>
              <a:rPr lang="en-US" sz="1800" b="1" dirty="0">
                <a:solidFill>
                  <a:schemeClr val="tx1"/>
                </a:solidFill>
              </a:rPr>
              <a:t>FlatFileItemReader</a:t>
            </a:r>
            <a:endParaRPr lang="en-US" sz="1800" dirty="0"/>
          </a:p>
        </p:txBody>
      </p:sp>
      <p:sp>
        <p:nvSpPr>
          <p:cNvPr id="8" name="PHASE 1: READER body"/>
          <p:cNvSpPr txBox="1"/>
          <p:nvPr/>
        </p:nvSpPr>
        <p:spPr>
          <a:xfrm>
            <a:off x="685800" y="2331720"/>
            <a:ext cx="2249424" cy="1097280"/>
          </a:xfrm>
          <a:prstGeom prst="rect">
            <a:avLst/>
          </a:prstGeom>
          <a:noFill/>
          <a:ln/>
        </p:spPr>
        <p:txBody>
          <a:bodyPr wrap="square" lIns="0" tIns="0" rIns="0" bIns="0" rtlCol="0" anchor="t"/>
          <a:lstStyle/>
          <a:p>
            <a:pPr indent="0" marL="0">
              <a:buNone/>
            </a:pPr>
            <a:r>
              <a:rPr lang="en-US" sz="1400" dirty="0">
                <a:solidFill>
                  <a:schemeClr val="accent5"/>
                </a:solidFill>
              </a:rPr>
              <a:t>Splits each CSV line into fields.</a:t>
            </a:r>
            <a:endParaRPr lang="en-US" sz="1400" dirty="0"/>
          </a:p>
        </p:txBody>
      </p:sp>
      <p:sp>
        <p:nvSpPr>
          <p:cNvPr id="9" name="PHASE 2: PROCESSOR card"/>
          <p:cNvSpPr/>
          <p:nvPr/>
        </p:nvSpPr>
        <p:spPr>
          <a:xfrm>
            <a:off x="3264408" y="1371600"/>
            <a:ext cx="2615184" cy="2194560"/>
          </a:xfrm>
          <a:prstGeom prst="roundRect">
            <a:avLst>
              <a:gd name="adj" fmla="val 3333"/>
            </a:avLst>
          </a:prstGeom>
          <a:solidFill>
            <a:schemeClr val="bg2"/>
          </a:solidFill>
          <a:ln w="12700">
            <a:solidFill>
              <a:schemeClr val="accent4"/>
            </a:solidFill>
            <a:prstDash val="solid"/>
          </a:ln>
        </p:spPr>
      </p:sp>
      <p:sp>
        <p:nvSpPr>
          <p:cNvPr id="10" name="PHASE 2: PROCESSOR label"/>
          <p:cNvSpPr txBox="1"/>
          <p:nvPr/>
        </p:nvSpPr>
        <p:spPr>
          <a:xfrm>
            <a:off x="3447288" y="1536192"/>
            <a:ext cx="2249424"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PHASE 2: PROCESSOR</a:t>
            </a:r>
            <a:endParaRPr lang="en-US" sz="1100" dirty="0"/>
          </a:p>
        </p:txBody>
      </p:sp>
      <p:sp>
        <p:nvSpPr>
          <p:cNvPr id="11" name="PHASE 2: PROCESSOR name"/>
          <p:cNvSpPr txBox="1"/>
          <p:nvPr/>
        </p:nvSpPr>
        <p:spPr>
          <a:xfrm>
            <a:off x="3447288" y="1874520"/>
            <a:ext cx="2249424" cy="365760"/>
          </a:xfrm>
          <a:prstGeom prst="rect">
            <a:avLst/>
          </a:prstGeom>
          <a:noFill/>
          <a:ln/>
        </p:spPr>
        <p:txBody>
          <a:bodyPr wrap="square" lIns="0" tIns="0" rIns="0" bIns="0" rtlCol="0" anchor="ctr"/>
          <a:lstStyle/>
          <a:p>
            <a:pPr indent="0" marL="0">
              <a:buNone/>
            </a:pPr>
            <a:r>
              <a:rPr lang="en-US" sz="1800" b="1" dirty="0">
                <a:solidFill>
                  <a:schemeClr val="tx1"/>
                </a:solidFill>
              </a:rPr>
              <a:t>LabProcessor</a:t>
            </a:r>
            <a:endParaRPr lang="en-US" sz="1800" dirty="0"/>
          </a:p>
        </p:txBody>
      </p:sp>
      <p:sp>
        <p:nvSpPr>
          <p:cNvPr id="12" name="PHASE 2: PROCESSOR body"/>
          <p:cNvSpPr txBox="1"/>
          <p:nvPr/>
        </p:nvSpPr>
        <p:spPr>
          <a:xfrm>
            <a:off x="3447288" y="2331720"/>
            <a:ext cx="2249424" cy="1097280"/>
          </a:xfrm>
          <a:prstGeom prst="rect">
            <a:avLst/>
          </a:prstGeom>
          <a:noFill/>
          <a:ln/>
        </p:spPr>
        <p:txBody>
          <a:bodyPr wrap="square" lIns="0" tIns="0" rIns="0" bIns="0" rtlCol="0" anchor="t"/>
          <a:lstStyle/>
          <a:p>
            <a:pPr indent="0" marL="0">
              <a:buNone/>
            </a:pPr>
            <a:r>
              <a:rPr lang="en-US" sz="1400" dirty="0">
                <a:solidFill>
                  <a:schemeClr val="accent5"/>
                </a:solidFill>
              </a:rPr>
              <a:t>Checks the row and classifies it normal, abnormal or critical against its range.</a:t>
            </a:r>
            <a:endParaRPr lang="en-US" sz="1400" dirty="0"/>
          </a:p>
        </p:txBody>
      </p:sp>
      <p:sp>
        <p:nvSpPr>
          <p:cNvPr id="13" name="PHASE 3: WRITER card"/>
          <p:cNvSpPr/>
          <p:nvPr/>
        </p:nvSpPr>
        <p:spPr>
          <a:xfrm>
            <a:off x="6025896" y="1371600"/>
            <a:ext cx="2615184" cy="2194560"/>
          </a:xfrm>
          <a:prstGeom prst="roundRect">
            <a:avLst>
              <a:gd name="adj" fmla="val 3333"/>
            </a:avLst>
          </a:prstGeom>
          <a:solidFill>
            <a:schemeClr val="bg2"/>
          </a:solidFill>
          <a:ln w="12700">
            <a:solidFill>
              <a:schemeClr val="accent4"/>
            </a:solidFill>
            <a:prstDash val="solid"/>
          </a:ln>
        </p:spPr>
      </p:sp>
      <p:sp>
        <p:nvSpPr>
          <p:cNvPr id="14" name="PHASE 3: WRITER label"/>
          <p:cNvSpPr txBox="1"/>
          <p:nvPr/>
        </p:nvSpPr>
        <p:spPr>
          <a:xfrm>
            <a:off x="6208776" y="1536192"/>
            <a:ext cx="2249424"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PHASE 3: WRITER</a:t>
            </a:r>
            <a:endParaRPr lang="en-US" sz="1100" dirty="0"/>
          </a:p>
        </p:txBody>
      </p:sp>
      <p:sp>
        <p:nvSpPr>
          <p:cNvPr id="15" name="PHASE 3: WRITER name"/>
          <p:cNvSpPr txBox="1"/>
          <p:nvPr/>
        </p:nvSpPr>
        <p:spPr>
          <a:xfrm>
            <a:off x="6208776" y="1874520"/>
            <a:ext cx="2249424" cy="365760"/>
          </a:xfrm>
          <a:prstGeom prst="rect">
            <a:avLst/>
          </a:prstGeom>
          <a:noFill/>
          <a:ln/>
        </p:spPr>
        <p:txBody>
          <a:bodyPr wrap="square" lIns="0" tIns="0" rIns="0" bIns="0" rtlCol="0" anchor="ctr"/>
          <a:lstStyle/>
          <a:p>
            <a:pPr indent="0" marL="0">
              <a:buNone/>
            </a:pPr>
            <a:r>
              <a:rPr lang="en-US" sz="1800" b="1" dirty="0">
                <a:solidFill>
                  <a:schemeClr val="tx1"/>
                </a:solidFill>
              </a:rPr>
              <a:t>JpaItemWriter</a:t>
            </a:r>
            <a:endParaRPr lang="en-US" sz="1800" dirty="0"/>
          </a:p>
        </p:txBody>
      </p:sp>
      <p:sp>
        <p:nvSpPr>
          <p:cNvPr id="16" name="PHASE 3: WRITER body"/>
          <p:cNvSpPr txBox="1"/>
          <p:nvPr/>
        </p:nvSpPr>
        <p:spPr>
          <a:xfrm>
            <a:off x="6208776" y="2331720"/>
            <a:ext cx="2249424" cy="1097280"/>
          </a:xfrm>
          <a:prstGeom prst="rect">
            <a:avLst/>
          </a:prstGeom>
          <a:noFill/>
          <a:ln/>
        </p:spPr>
        <p:txBody>
          <a:bodyPr wrap="square" lIns="0" tIns="0" rIns="0" bIns="0" rtlCol="0" anchor="t"/>
          <a:lstStyle/>
          <a:p>
            <a:pPr indent="0" marL="0">
              <a:buNone/>
            </a:pPr>
            <a:r>
              <a:rPr lang="en-US" sz="1400" dirty="0">
                <a:solidFill>
                  <a:schemeClr val="accent5"/>
                </a:solidFill>
              </a:rPr>
              <a:t>Saves the rows, committing a chunk of 50 at a time.</a:t>
            </a:r>
            <a:endParaRPr lang="en-US" sz="1400" dirty="0"/>
          </a:p>
        </p:txBody>
      </p:sp>
      <p:sp>
        <p:nvSpPr>
          <p:cNvPr id="17" name="Sample run"/>
          <p:cNvSpPr txBox="1"/>
          <p:nvPr/>
        </p:nvSpPr>
        <p:spPr>
          <a:xfrm>
            <a:off x="502920" y="3794760"/>
            <a:ext cx="8138160" cy="365760"/>
          </a:xfrm>
          <a:prstGeom prst="rect">
            <a:avLst/>
          </a:prstGeom>
          <a:noFill/>
          <a:ln/>
        </p:spPr>
        <p:txBody>
          <a:bodyPr wrap="square" lIns="0" tIns="0" rIns="0" bIns="0" rtlCol="0" anchor="ctr"/>
          <a:lstStyle/>
          <a:p>
            <a:pPr indent="0" marL="0">
              <a:buNone/>
            </a:pPr>
            <a:r>
              <a:rPr lang="en-US" sz="1600" b="1" dirty="0">
                <a:solidFill>
                  <a:schemeClr val="accent1"/>
                </a:solidFill>
              </a:rPr>
              <a:t>Sample run: </a:t>
            </a:r>
            <a:pPr indent="0" marL="0">
              <a:buNone/>
            </a:pPr>
            <a:r>
              <a:rPr lang="en-US" sz="1600" b="1" dirty="0">
                <a:solidFill>
                  <a:schemeClr val="tx1"/>
                </a:solidFill>
              </a:rPr>
              <a:t>303 rows read · 300 saved · 5 skipped · 7 chunk commits</a:t>
            </a:r>
            <a:endParaRPr lang="en-US" sz="1600" dirty="0"/>
          </a:p>
        </p:txBody>
      </p:sp>
      <p:sp>
        <p:nvSpPr>
          <p:cNvPr id="18" name="Schedule note"/>
          <p:cNvSpPr txBox="1"/>
          <p:nvPr/>
        </p:nvSpPr>
        <p:spPr>
          <a:xfrm>
            <a:off x="502920" y="4206240"/>
            <a:ext cx="8138160" cy="365760"/>
          </a:xfrm>
          <a:prstGeom prst="rect">
            <a:avLst/>
          </a:prstGeom>
          <a:noFill/>
          <a:ln/>
        </p:spPr>
        <p:txBody>
          <a:bodyPr wrap="square" lIns="0" tIns="0" rIns="0" bIns="0" rtlCol="0" anchor="ctr"/>
          <a:lstStyle/>
          <a:p>
            <a:pPr indent="0" marL="0">
              <a:buNone/>
            </a:pPr>
            <a:r>
              <a:rPr lang="en-US" sz="1400" dirty="0">
                <a:solidFill>
                  <a:schemeClr val="accent5"/>
                </a:solidFill>
              </a:rPr>
              <a:t>Runs on its own thread, so the page polls for progress. Also scheduled nightly at 2 a.m. with @Scheduled.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DEMO: FAULT TOLERANCE &amp; ALERTS</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Skips, Alerts and Filtering</a:t>
            </a:r>
            <a:endParaRPr lang="en-US" sz="3000" dirty="0"/>
          </a:p>
        </p:txBody>
      </p:sp>
      <p:sp>
        <p:nvSpPr>
          <p:cNvPr id="5" name="Skipped Rows card"/>
          <p:cNvSpPr/>
          <p:nvPr/>
        </p:nvSpPr>
        <p:spPr>
          <a:xfrm>
            <a:off x="502920" y="1417320"/>
            <a:ext cx="2615184" cy="3108960"/>
          </a:xfrm>
          <a:prstGeom prst="roundRect">
            <a:avLst>
              <a:gd name="adj" fmla="val 2797"/>
            </a:avLst>
          </a:prstGeom>
          <a:solidFill>
            <a:schemeClr val="bg2"/>
          </a:solidFill>
          <a:ln w="12700">
            <a:solidFill>
              <a:schemeClr val="accent4"/>
            </a:solidFill>
            <a:prstDash val="solid"/>
          </a:ln>
        </p:spPr>
      </p:sp>
      <p:sp>
        <p:nvSpPr>
          <p:cNvPr id="6" name="Skipped Rows heading"/>
          <p:cNvSpPr txBox="1"/>
          <p:nvPr/>
        </p:nvSpPr>
        <p:spPr>
          <a:xfrm>
            <a:off x="704088" y="1563624"/>
            <a:ext cx="2212848" cy="365760"/>
          </a:xfrm>
          <a:prstGeom prst="rect">
            <a:avLst/>
          </a:prstGeom>
          <a:noFill/>
          <a:ln/>
        </p:spPr>
        <p:txBody>
          <a:bodyPr wrap="square" lIns="0" tIns="0" rIns="0" bIns="0" rtlCol="0" anchor="t"/>
          <a:lstStyle/>
          <a:p>
            <a:pPr indent="0" marL="0">
              <a:buNone/>
            </a:pPr>
            <a:r>
              <a:rPr lang="en-US" sz="1600" b="1" dirty="0">
                <a:solidFill>
                  <a:schemeClr val="accent1"/>
                </a:solidFill>
              </a:rPr>
              <a:t>Skipped Rows</a:t>
            </a:r>
            <a:endParaRPr lang="en-US" sz="1600" dirty="0"/>
          </a:p>
        </p:txBody>
      </p:sp>
      <p:sp>
        <p:nvSpPr>
          <p:cNvPr id="7" name="Skipped Rows body"/>
          <p:cNvSpPr txBox="1"/>
          <p:nvPr/>
        </p:nvSpPr>
        <p:spPr>
          <a:xfrm>
            <a:off x="704088" y="1965960"/>
            <a:ext cx="2212848" cy="2423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5 bad rows in the sample file</a:t>
            </a:r>
            <a:endParaRPr lang="en-US" sz="1400" dirty="0"/>
          </a:p>
          <a:p>
            <a:pPr marL="342900" indent="-342900">
              <a:spcAft>
                <a:spcPts val="500"/>
              </a:spcAft>
              <a:buSzPct val="100000"/>
              <a:buChar char="•"/>
            </a:pPr>
            <a:r>
              <a:rPr lang="en-US" sz="1400" dirty="0">
                <a:solidFill>
                  <a:schemeClr val="tx1"/>
                </a:solidFill>
              </a:rPr>
              <a:t>Step is fault-tolerant with .skip()</a:t>
            </a:r>
            <a:endParaRPr lang="en-US" sz="1400" dirty="0"/>
          </a:p>
          <a:p>
            <a:pPr marL="342900" indent="-342900">
              <a:spcAft>
                <a:spcPts val="500"/>
              </a:spcAft>
              <a:buSzPct val="100000"/>
              <a:buChar char="•"/>
            </a:pPr>
            <a:r>
              <a:rPr lang="en-US" sz="1400" dirty="0">
                <a:solidFill>
                  <a:schemeClr val="tx1"/>
                </a:solidFill>
              </a:rPr>
              <a:t>A SkipListener logs each reason; the batch carries on</a:t>
            </a:r>
            <a:endParaRPr lang="en-US" sz="1400" dirty="0"/>
          </a:p>
        </p:txBody>
      </p:sp>
      <p:sp>
        <p:nvSpPr>
          <p:cNvPr id="8" name="Critical Alerts card"/>
          <p:cNvSpPr/>
          <p:nvPr/>
        </p:nvSpPr>
        <p:spPr>
          <a:xfrm>
            <a:off x="3264408" y="1417320"/>
            <a:ext cx="2615184" cy="3108960"/>
          </a:xfrm>
          <a:prstGeom prst="roundRect">
            <a:avLst>
              <a:gd name="adj" fmla="val 2797"/>
            </a:avLst>
          </a:prstGeom>
          <a:solidFill>
            <a:schemeClr val="bg2"/>
          </a:solidFill>
          <a:ln w="12700">
            <a:solidFill>
              <a:schemeClr val="accent4"/>
            </a:solidFill>
            <a:prstDash val="solid"/>
          </a:ln>
        </p:spPr>
      </p:sp>
      <p:sp>
        <p:nvSpPr>
          <p:cNvPr id="9" name="Critical Alerts heading"/>
          <p:cNvSpPr txBox="1"/>
          <p:nvPr/>
        </p:nvSpPr>
        <p:spPr>
          <a:xfrm>
            <a:off x="3465576" y="1563624"/>
            <a:ext cx="2212848" cy="365760"/>
          </a:xfrm>
          <a:prstGeom prst="rect">
            <a:avLst/>
          </a:prstGeom>
          <a:noFill/>
          <a:ln/>
        </p:spPr>
        <p:txBody>
          <a:bodyPr wrap="square" lIns="0" tIns="0" rIns="0" bIns="0" rtlCol="0" anchor="t"/>
          <a:lstStyle/>
          <a:p>
            <a:pPr indent="0" marL="0">
              <a:buNone/>
            </a:pPr>
            <a:r>
              <a:rPr lang="en-US" sz="1600" b="1" dirty="0">
                <a:solidFill>
                  <a:schemeClr val="accent1"/>
                </a:solidFill>
              </a:rPr>
              <a:t>Critical Alerts</a:t>
            </a:r>
            <a:endParaRPr lang="en-US" sz="1600" dirty="0"/>
          </a:p>
        </p:txBody>
      </p:sp>
      <p:sp>
        <p:nvSpPr>
          <p:cNvPr id="10" name="Critical Alerts body"/>
          <p:cNvSpPr txBox="1"/>
          <p:nvPr/>
        </p:nvSpPr>
        <p:spPr>
          <a:xfrm>
            <a:off x="3465576" y="1965960"/>
            <a:ext cx="2212848" cy="2423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LabProcessor publishes to the ActiveMQ topic labAlerts at top priority</a:t>
            </a:r>
            <a:endParaRPr lang="en-US" sz="1400" dirty="0"/>
          </a:p>
          <a:p>
            <a:pPr marL="342900" indent="-342900">
              <a:spcAft>
                <a:spcPts val="500"/>
              </a:spcAft>
              <a:buSzPct val="100000"/>
              <a:buChar char="•"/>
            </a:pPr>
            <a:r>
              <a:rPr lang="en-US" sz="1400" dirty="0">
                <a:solidFill>
                  <a:schemeClr val="tx1"/>
                </a:solidFill>
              </a:rPr>
              <a:t>AlertService subscribes</a:t>
            </a:r>
            <a:endParaRPr lang="en-US" sz="1400" dirty="0"/>
          </a:p>
          <a:p>
            <a:pPr marL="342900" indent="-342900">
              <a:spcAft>
                <a:spcPts val="500"/>
              </a:spcAft>
              <a:buSzPct val="100000"/>
              <a:buChar char="•"/>
            </a:pPr>
            <a:r>
              <a:rPr lang="en-US" sz="1400" dirty="0">
                <a:solidFill>
                  <a:schemeClr val="tx1"/>
                </a:solidFill>
              </a:rPr>
              <a:t>A topic gives every subscriber a copy</a:t>
            </a:r>
            <a:endParaRPr lang="en-US" sz="1400" dirty="0"/>
          </a:p>
        </p:txBody>
      </p:sp>
      <p:sp>
        <p:nvSpPr>
          <p:cNvPr id="11" name="Results Filter card"/>
          <p:cNvSpPr/>
          <p:nvPr/>
        </p:nvSpPr>
        <p:spPr>
          <a:xfrm>
            <a:off x="6025896" y="1417320"/>
            <a:ext cx="2615184" cy="3108960"/>
          </a:xfrm>
          <a:prstGeom prst="roundRect">
            <a:avLst>
              <a:gd name="adj" fmla="val 2797"/>
            </a:avLst>
          </a:prstGeom>
          <a:solidFill>
            <a:schemeClr val="bg2"/>
          </a:solidFill>
          <a:ln w="12700">
            <a:solidFill>
              <a:schemeClr val="accent4"/>
            </a:solidFill>
            <a:prstDash val="solid"/>
          </a:ln>
        </p:spPr>
      </p:sp>
      <p:sp>
        <p:nvSpPr>
          <p:cNvPr id="12" name="Results Filter heading"/>
          <p:cNvSpPr txBox="1"/>
          <p:nvPr/>
        </p:nvSpPr>
        <p:spPr>
          <a:xfrm>
            <a:off x="6227064" y="1563624"/>
            <a:ext cx="2212848" cy="365760"/>
          </a:xfrm>
          <a:prstGeom prst="rect">
            <a:avLst/>
          </a:prstGeom>
          <a:noFill/>
          <a:ln/>
        </p:spPr>
        <p:txBody>
          <a:bodyPr wrap="square" lIns="0" tIns="0" rIns="0" bIns="0" rtlCol="0" anchor="t"/>
          <a:lstStyle/>
          <a:p>
            <a:pPr indent="0" marL="0">
              <a:buNone/>
            </a:pPr>
            <a:r>
              <a:rPr lang="en-US" sz="1600" b="1" dirty="0">
                <a:solidFill>
                  <a:schemeClr val="accent1"/>
                </a:solidFill>
              </a:rPr>
              <a:t>Results Filter</a:t>
            </a:r>
            <a:endParaRPr lang="en-US" sz="1600" dirty="0"/>
          </a:p>
        </p:txBody>
      </p:sp>
      <p:sp>
        <p:nvSpPr>
          <p:cNvPr id="13" name="Results Filter body"/>
          <p:cNvSpPr txBox="1"/>
          <p:nvPr/>
        </p:nvSpPr>
        <p:spPr>
          <a:xfrm>
            <a:off x="6227064" y="1965960"/>
            <a:ext cx="2212848" cy="2423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LabResult base entity with Blood and Urine subclasses</a:t>
            </a:r>
            <a:endParaRPr lang="en-US" sz="1400" dirty="0"/>
          </a:p>
          <a:p>
            <a:pPr marL="342900" indent="-342900">
              <a:spcAft>
                <a:spcPts val="500"/>
              </a:spcAft>
              <a:buSzPct val="100000"/>
              <a:buChar char="•"/>
            </a:pPr>
            <a:r>
              <a:rPr lang="en-US" sz="1400" dirty="0">
                <a:solidFill>
                  <a:schemeClr val="tx1"/>
                </a:solidFill>
              </a:rPr>
              <a:t>Filter uses a named HQL query on severity</a:t>
            </a:r>
            <a:endParaRPr lang="en-US" sz="1400" dirty="0"/>
          </a:p>
          <a:p>
            <a:pPr marL="342900" indent="-342900">
              <a:spcAft>
                <a:spcPts val="500"/>
              </a:spcAft>
              <a:buSzPct val="100000"/>
              <a:buChar char="•"/>
            </a:pPr>
            <a:r>
              <a:rPr lang="en-US" sz="1400" dirty="0">
                <a:solidFill>
                  <a:schemeClr val="tx1"/>
                </a:solidFill>
              </a:rPr>
              <a:t>Sample CSV is downloadable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WRAP-UP</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Summary</a:t>
            </a:r>
            <a:endParaRPr lang="en-US" sz="3000" dirty="0"/>
          </a:p>
        </p:txBody>
      </p:sp>
      <p:sp>
        <p:nvSpPr>
          <p:cNvPr id="5" name="REST and SOAP Together card"/>
          <p:cNvSpPr/>
          <p:nvPr/>
        </p:nvSpPr>
        <p:spPr>
          <a:xfrm>
            <a:off x="502920" y="1417320"/>
            <a:ext cx="3931920" cy="1463040"/>
          </a:xfrm>
          <a:prstGeom prst="roundRect">
            <a:avLst>
              <a:gd name="adj" fmla="val 5000"/>
            </a:avLst>
          </a:prstGeom>
          <a:solidFill>
            <a:schemeClr val="bg2"/>
          </a:solidFill>
          <a:ln w="12700">
            <a:solidFill>
              <a:schemeClr val="accent4"/>
            </a:solidFill>
            <a:prstDash val="solid"/>
          </a:ln>
        </p:spPr>
      </p:sp>
      <p:sp>
        <p:nvSpPr>
          <p:cNvPr id="6" name="REST and SOAP Together heading"/>
          <p:cNvSpPr txBox="1"/>
          <p:nvPr/>
        </p:nvSpPr>
        <p:spPr>
          <a:xfrm>
            <a:off x="704088" y="15636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REST and SOAP Together</a:t>
            </a:r>
            <a:endParaRPr lang="en-US" sz="1700" dirty="0"/>
          </a:p>
        </p:txBody>
      </p:sp>
      <p:sp>
        <p:nvSpPr>
          <p:cNvPr id="7" name="REST and SOAP Together body"/>
          <p:cNvSpPr txBox="1"/>
          <p:nvPr/>
        </p:nvSpPr>
        <p:spPr>
          <a:xfrm>
            <a:off x="704088" y="19659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JSON REST endpoints for patients and staff, plus a SOAP insurance service with a WSDL contract.</a:t>
            </a:r>
            <a:endParaRPr lang="en-US" sz="1500" dirty="0"/>
          </a:p>
        </p:txBody>
      </p:sp>
      <p:sp>
        <p:nvSpPr>
          <p:cNvPr id="8" name="Queue and Topic card"/>
          <p:cNvSpPr/>
          <p:nvPr/>
        </p:nvSpPr>
        <p:spPr>
          <a:xfrm>
            <a:off x="4709160" y="1417320"/>
            <a:ext cx="3931920" cy="1463040"/>
          </a:xfrm>
          <a:prstGeom prst="roundRect">
            <a:avLst>
              <a:gd name="adj" fmla="val 5000"/>
            </a:avLst>
          </a:prstGeom>
          <a:solidFill>
            <a:schemeClr val="bg2"/>
          </a:solidFill>
          <a:ln w="12700">
            <a:solidFill>
              <a:schemeClr val="accent4"/>
            </a:solidFill>
            <a:prstDash val="solid"/>
          </a:ln>
        </p:spPr>
      </p:sp>
      <p:sp>
        <p:nvSpPr>
          <p:cNvPr id="9" name="Queue and Topic heading"/>
          <p:cNvSpPr txBox="1"/>
          <p:nvPr/>
        </p:nvSpPr>
        <p:spPr>
          <a:xfrm>
            <a:off x="4910328" y="15636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Queue and Topic</a:t>
            </a:r>
            <a:endParaRPr lang="en-US" sz="1700" dirty="0"/>
          </a:p>
        </p:txBody>
      </p:sp>
      <p:sp>
        <p:nvSpPr>
          <p:cNvPr id="10" name="Queue and Topic body"/>
          <p:cNvSpPr txBox="1"/>
          <p:nvPr/>
        </p:nvSpPr>
        <p:spPr>
          <a:xfrm>
            <a:off x="4910328" y="19659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ActiveMQ queue for bookings, priority topic for critical lab alerts.</a:t>
            </a:r>
            <a:endParaRPr lang="en-US" sz="1500" dirty="0"/>
          </a:p>
        </p:txBody>
      </p:sp>
      <p:sp>
        <p:nvSpPr>
          <p:cNvPr id="11" name="Spring Batch Pipeline card"/>
          <p:cNvSpPr/>
          <p:nvPr/>
        </p:nvSpPr>
        <p:spPr>
          <a:xfrm>
            <a:off x="502920" y="3017520"/>
            <a:ext cx="3931920" cy="1463040"/>
          </a:xfrm>
          <a:prstGeom prst="roundRect">
            <a:avLst>
              <a:gd name="adj" fmla="val 5000"/>
            </a:avLst>
          </a:prstGeom>
          <a:solidFill>
            <a:schemeClr val="bg2"/>
          </a:solidFill>
          <a:ln w="12700">
            <a:solidFill>
              <a:schemeClr val="accent4"/>
            </a:solidFill>
            <a:prstDash val="solid"/>
          </a:ln>
        </p:spPr>
      </p:sp>
      <p:sp>
        <p:nvSpPr>
          <p:cNvPr id="12" name="Spring Batch Pipeline heading"/>
          <p:cNvSpPr txBox="1"/>
          <p:nvPr/>
        </p:nvSpPr>
        <p:spPr>
          <a:xfrm>
            <a:off x="704088" y="31638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Spring Batch Pipeline</a:t>
            </a:r>
            <a:endParaRPr lang="en-US" sz="1700" dirty="0"/>
          </a:p>
        </p:txBody>
      </p:sp>
      <p:sp>
        <p:nvSpPr>
          <p:cNvPr id="13" name="Spring Batch Pipeline body"/>
          <p:cNvSpPr txBox="1"/>
          <p:nvPr/>
        </p:nvSpPr>
        <p:spPr>
          <a:xfrm>
            <a:off x="704088" y="35661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300-row batch with 5 bad rows skipped, committed in chunks of 50.</a:t>
            </a:r>
            <a:endParaRPr lang="en-US" sz="1500" dirty="0"/>
          </a:p>
        </p:txBody>
      </p:sp>
      <p:sp>
        <p:nvSpPr>
          <p:cNvPr id="14" name="Optimistic Locking card"/>
          <p:cNvSpPr/>
          <p:nvPr/>
        </p:nvSpPr>
        <p:spPr>
          <a:xfrm>
            <a:off x="4709160" y="3017520"/>
            <a:ext cx="3931920" cy="1463040"/>
          </a:xfrm>
          <a:prstGeom prst="roundRect">
            <a:avLst>
              <a:gd name="adj" fmla="val 5000"/>
            </a:avLst>
          </a:prstGeom>
          <a:solidFill>
            <a:schemeClr val="bg2"/>
          </a:solidFill>
          <a:ln w="12700">
            <a:solidFill>
              <a:schemeClr val="accent4"/>
            </a:solidFill>
            <a:prstDash val="solid"/>
          </a:ln>
        </p:spPr>
      </p:sp>
      <p:sp>
        <p:nvSpPr>
          <p:cNvPr id="15" name="Optimistic Locking heading"/>
          <p:cNvSpPr txBox="1"/>
          <p:nvPr/>
        </p:nvSpPr>
        <p:spPr>
          <a:xfrm>
            <a:off x="4910328" y="31638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Optimistic Locking</a:t>
            </a:r>
            <a:endParaRPr lang="en-US" sz="1700" dirty="0"/>
          </a:p>
        </p:txBody>
      </p:sp>
      <p:sp>
        <p:nvSpPr>
          <p:cNvPr id="16" name="Optimistic Locking body"/>
          <p:cNvSpPr txBox="1"/>
          <p:nvPr/>
        </p:nvSpPr>
        <p:spPr>
          <a:xfrm>
            <a:off x="4910328" y="35661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Tests show exactly 1 booking out of 30 simultaneous requests.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label"/>
          <p:cNvSpPr txBox="1"/>
          <p:nvPr/>
        </p:nvSpPr>
        <p:spPr>
          <a:xfrm>
            <a:off x="502920" y="320040"/>
            <a:ext cx="8138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VIVA PREPARATION</a:t>
            </a:r>
            <a:endParaRPr lang="en-US" sz="1100" dirty="0"/>
          </a:p>
        </p:txBody>
      </p:sp>
      <p:sp>
        <p:nvSpPr>
          <p:cNvPr id="3" name="Slide title"/>
          <p:cNvSpPr txBox="1"/>
          <p:nvPr/>
        </p:nvSpPr>
        <p:spPr>
          <a:xfrm>
            <a:off x="502920" y="594360"/>
            <a:ext cx="8138160" cy="594360"/>
          </a:xfrm>
          <a:prstGeom prst="rect">
            <a:avLst/>
          </a:prstGeom>
          <a:noFill/>
          <a:ln/>
        </p:spPr>
        <p:txBody>
          <a:bodyPr wrap="square" lIns="0" tIns="0" rIns="0" bIns="0" rtlCol="0" anchor="t"/>
          <a:lstStyle/>
          <a:p>
            <a:pPr indent="0" marL="0">
              <a:buNone/>
            </a:pPr>
            <a:r>
              <a:rPr lang="en-US" sz="3000" b="1" dirty="0">
                <a:solidFill>
                  <a:schemeClr val="tx1"/>
                </a:solidFill>
              </a:rPr>
              <a:t>Likely Questions</a:t>
            </a:r>
            <a:endParaRPr lang="en-US" sz="3000" dirty="0"/>
          </a:p>
        </p:txBody>
      </p:sp>
      <p:sp>
        <p:nvSpPr>
          <p:cNvPr id="5" name="Why a queue? card"/>
          <p:cNvSpPr/>
          <p:nvPr/>
        </p:nvSpPr>
        <p:spPr>
          <a:xfrm>
            <a:off x="502920" y="1417320"/>
            <a:ext cx="3931920" cy="1463040"/>
          </a:xfrm>
          <a:prstGeom prst="roundRect">
            <a:avLst>
              <a:gd name="adj" fmla="val 5000"/>
            </a:avLst>
          </a:prstGeom>
          <a:solidFill>
            <a:schemeClr val="bg2"/>
          </a:solidFill>
          <a:ln w="12700">
            <a:solidFill>
              <a:schemeClr val="accent4"/>
            </a:solidFill>
            <a:prstDash val="solid"/>
          </a:ln>
        </p:spPr>
      </p:sp>
      <p:sp>
        <p:nvSpPr>
          <p:cNvPr id="6" name="Why a queue? heading"/>
          <p:cNvSpPr txBox="1"/>
          <p:nvPr/>
        </p:nvSpPr>
        <p:spPr>
          <a:xfrm>
            <a:off x="704088" y="15636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Why a queue?</a:t>
            </a:r>
            <a:endParaRPr lang="en-US" sz="1700" dirty="0"/>
          </a:p>
        </p:txBody>
      </p:sp>
      <p:sp>
        <p:nvSpPr>
          <p:cNvPr id="7" name="Why a queue? body"/>
          <p:cNvSpPr txBox="1"/>
          <p:nvPr/>
        </p:nvSpPr>
        <p:spPr>
          <a:xfrm>
            <a:off x="704088" y="19659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It keeps HTTP threads free during spikes and survives slow external services.</a:t>
            </a:r>
            <a:endParaRPr lang="en-US" sz="1500" dirty="0"/>
          </a:p>
        </p:txBody>
      </p:sp>
      <p:sp>
        <p:nvSpPr>
          <p:cNvPr id="8" name="Why optimistic locking? card"/>
          <p:cNvSpPr/>
          <p:nvPr/>
        </p:nvSpPr>
        <p:spPr>
          <a:xfrm>
            <a:off x="4709160" y="1417320"/>
            <a:ext cx="3931920" cy="1463040"/>
          </a:xfrm>
          <a:prstGeom prst="roundRect">
            <a:avLst>
              <a:gd name="adj" fmla="val 5000"/>
            </a:avLst>
          </a:prstGeom>
          <a:solidFill>
            <a:schemeClr val="bg2"/>
          </a:solidFill>
          <a:ln w="12700">
            <a:solidFill>
              <a:schemeClr val="accent4"/>
            </a:solidFill>
            <a:prstDash val="solid"/>
          </a:ln>
        </p:spPr>
      </p:sp>
      <p:sp>
        <p:nvSpPr>
          <p:cNvPr id="9" name="Why optimistic locking? heading"/>
          <p:cNvSpPr txBox="1"/>
          <p:nvPr/>
        </p:nvSpPr>
        <p:spPr>
          <a:xfrm>
            <a:off x="4910328" y="15636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Why optimistic locking?</a:t>
            </a:r>
            <a:endParaRPr lang="en-US" sz="1700" dirty="0"/>
          </a:p>
        </p:txBody>
      </p:sp>
      <p:sp>
        <p:nvSpPr>
          <p:cNvPr id="10" name="Why optimistic locking? body"/>
          <p:cNvSpPr txBox="1"/>
          <p:nvPr/>
        </p:nvSpPr>
        <p:spPr>
          <a:xfrm>
            <a:off x="4910328" y="19659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Conflicts are rare and no table is locked; a conflict is detected at save time.</a:t>
            </a:r>
            <a:endParaRPr lang="en-US" sz="1500" dirty="0"/>
          </a:p>
        </p:txBody>
      </p:sp>
      <p:sp>
        <p:nvSpPr>
          <p:cNvPr id="11" name="Which database? card"/>
          <p:cNvSpPr/>
          <p:nvPr/>
        </p:nvSpPr>
        <p:spPr>
          <a:xfrm>
            <a:off x="502920" y="3017520"/>
            <a:ext cx="3931920" cy="1463040"/>
          </a:xfrm>
          <a:prstGeom prst="roundRect">
            <a:avLst>
              <a:gd name="adj" fmla="val 5000"/>
            </a:avLst>
          </a:prstGeom>
          <a:solidFill>
            <a:schemeClr val="bg2"/>
          </a:solidFill>
          <a:ln w="12700">
            <a:solidFill>
              <a:schemeClr val="accent4"/>
            </a:solidFill>
            <a:prstDash val="solid"/>
          </a:ln>
        </p:spPr>
      </p:sp>
      <p:sp>
        <p:nvSpPr>
          <p:cNvPr id="12" name="Which database? heading"/>
          <p:cNvSpPr txBox="1"/>
          <p:nvPr/>
        </p:nvSpPr>
        <p:spPr>
          <a:xfrm>
            <a:off x="704088" y="31638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Which database?</a:t>
            </a:r>
            <a:endParaRPr lang="en-US" sz="1700" dirty="0"/>
          </a:p>
        </p:txBody>
      </p:sp>
      <p:sp>
        <p:nvSpPr>
          <p:cNvPr id="13" name="Which database? body"/>
          <p:cNvSpPr txBox="1"/>
          <p:nvPr/>
        </p:nvSpPr>
        <p:spPr>
          <a:xfrm>
            <a:off x="704088" y="35661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H2 in memory for the demo, with a MySQL profile configured but only H2 tested.</a:t>
            </a:r>
            <a:endParaRPr lang="en-US" sz="1500" dirty="0"/>
          </a:p>
        </p:txBody>
      </p:sp>
      <p:sp>
        <p:nvSpPr>
          <p:cNvPr id="14" name="What happens on restart? card"/>
          <p:cNvSpPr/>
          <p:nvPr/>
        </p:nvSpPr>
        <p:spPr>
          <a:xfrm>
            <a:off x="4709160" y="3017520"/>
            <a:ext cx="3931920" cy="1463040"/>
          </a:xfrm>
          <a:prstGeom prst="roundRect">
            <a:avLst>
              <a:gd name="adj" fmla="val 5000"/>
            </a:avLst>
          </a:prstGeom>
          <a:solidFill>
            <a:schemeClr val="bg2"/>
          </a:solidFill>
          <a:ln w="12700">
            <a:solidFill>
              <a:schemeClr val="accent4"/>
            </a:solidFill>
            <a:prstDash val="solid"/>
          </a:ln>
        </p:spPr>
      </p:sp>
      <p:sp>
        <p:nvSpPr>
          <p:cNvPr id="15" name="What happens on restart? heading"/>
          <p:cNvSpPr txBox="1"/>
          <p:nvPr/>
        </p:nvSpPr>
        <p:spPr>
          <a:xfrm>
            <a:off x="4910328" y="3163824"/>
            <a:ext cx="3529584" cy="365760"/>
          </a:xfrm>
          <a:prstGeom prst="rect">
            <a:avLst/>
          </a:prstGeom>
          <a:noFill/>
          <a:ln/>
        </p:spPr>
        <p:txBody>
          <a:bodyPr wrap="square" lIns="0" tIns="0" rIns="0" bIns="0" rtlCol="0" anchor="t"/>
          <a:lstStyle/>
          <a:p>
            <a:pPr indent="0" marL="0">
              <a:buNone/>
            </a:pPr>
            <a:r>
              <a:rPr lang="en-US" sz="1700" b="1" dirty="0">
                <a:solidFill>
                  <a:schemeClr val="accent1"/>
                </a:solidFill>
              </a:rPr>
              <a:t>What happens on restart?</a:t>
            </a:r>
            <a:endParaRPr lang="en-US" sz="1700" dirty="0"/>
          </a:p>
        </p:txBody>
      </p:sp>
      <p:sp>
        <p:nvSpPr>
          <p:cNvPr id="16" name="What happens on restart? body"/>
          <p:cNvSpPr txBox="1"/>
          <p:nvPr/>
        </p:nvSpPr>
        <p:spPr>
          <a:xfrm>
            <a:off x="4910328" y="3566160"/>
            <a:ext cx="3529584" cy="777240"/>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The demo data resets because it is in memory; MySQL would keep it.</a:t>
            </a:r>
            <a:endParaRPr lang="en-US" sz="1500" dirty="0"/>
          </a:p>
        </p:txBody>
      </p:sp>
    </p:spTree>
  </p:cSld>
  <p:clrMapOvr>
    <a:masterClrMapping/>
  </p:clrMapOvr>
</p:sld>
</file>

<file path=ppt/theme/theme1.xml><?xml version="1.0" encoding="utf-8"?>
<a:theme xmlns:a="http://schemas.openxmlformats.org/drawingml/2006/main" name="Healthcare Pipeline">
  <a:themeElements>
    <a:clrScheme name="Healthcare Pipeline">
      <a:dk1>
        <a:srgbClr val="111827"/>
      </a:dk1>
      <a:lt1>
        <a:srgbClr val="FFFFFF"/>
      </a:lt1>
      <a:dk2>
        <a:srgbClr val="0A1128"/>
      </a:dk2>
      <a:lt2>
        <a:srgbClr val="F8FAFC"/>
      </a:lt2>
      <a:accent1>
        <a:srgbClr val="0B6FA4"/>
      </a:accent1>
      <a:accent2>
        <a:srgbClr val="38BDF8"/>
      </a:accent2>
      <a:accent3>
        <a:srgbClr val="B91C1C"/>
      </a:accent3>
      <a:accent4>
        <a:srgbClr val="E2E8F0"/>
      </a:accent4>
      <a:accent5>
        <a:srgbClr val="475569"/>
      </a:accent5>
      <a:accent6>
        <a:srgbClr val="94A3B8"/>
      </a:accent6>
      <a:hlink>
        <a:srgbClr val="0B6FA4"/>
      </a:hlink>
      <a:folHlink>
        <a:srgbClr val="475569"/>
      </a:folHlink>
    </a:clrScheme>
    <a:fontScheme name="Healthcare Pipeli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Appointment Scheduling and Lab Result Pipeline: Demo Walkthrough</dc:title>
  <dc:subject>PptxGenJS Presentation</dc:subject>
  <dc:creator>Ballini Soundarya M</dc:creator>
  <cp:lastModifiedBy>Ballini Soundarya M</cp:lastModifiedBy>
  <cp:revision>1</cp:revision>
  <dcterms:created xsi:type="dcterms:W3CDTF">2026-10-27T07:21:00Z</dcterms:created>
  <dcterms:modified xsi:type="dcterms:W3CDTF">2026-10-27T07:21:00Z</dcterms:modified>
</cp:coreProperties>
</file>